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4"/>
  </p:notesMasterIdLst>
  <p:sldIdLst>
    <p:sldId id="1559" r:id="rId2"/>
    <p:sldId id="600" r:id="rId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4660"/>
  </p:normalViewPr>
  <p:slideViewPr>
    <p:cSldViewPr snapToGrid="0">
      <p:cViewPr varScale="1">
        <p:scale>
          <a:sx n="89" d="100"/>
          <a:sy n="89" d="100"/>
        </p:scale>
        <p:origin x="393"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32DD2D-E7B9-4E8B-A177-739A266508B3}" type="datetimeFigureOut">
              <a:rPr lang="ko-KR" altLang="en-US" smtClean="0"/>
              <a:t>2026-09-23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B979E-1388-4835-8479-85E89DB6C9CC}" type="slidenum">
              <a:rPr lang="ko-KR" altLang="en-US" smtClean="0"/>
              <a:t>‹#›</a:t>
            </a:fld>
            <a:endParaRPr lang="ko-KR" altLang="en-US"/>
          </a:p>
        </p:txBody>
      </p:sp>
    </p:spTree>
    <p:extLst>
      <p:ext uri="{BB962C8B-B14F-4D97-AF65-F5344CB8AC3E}">
        <p14:creationId xmlns:p14="http://schemas.microsoft.com/office/powerpoint/2010/main" val="311913467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14E0A-6C34-3A46-EBB0-50A514E93DC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D35255-977B-C6B3-6D27-4178246E017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2A826D5-AA0E-53DC-70C1-634C0AE00A9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7C9B301-9840-EFC1-3239-7D586A5546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51814-3B91-4036-94D2-3977634EE214}" type="slidenum">
              <a:rPr kumimoji="0" lang="en-US" altLang="ko-KR" sz="1200" b="0" i="0" u="none" strike="noStrike" kern="1200" cap="none" spc="0" normalizeH="0" baseline="0" noProof="0" smtClean="0">
                <a:ln>
                  <a:noFill/>
                </a:ln>
                <a:solidFill>
                  <a:prstClr val="black"/>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414278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190B9-31CF-F177-64B4-8B01F43244A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4ADF489-A16B-25F2-81AC-309E2D313A0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5D82DA7-035D-E33C-1DA5-015DF5B3D8A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076321B-F9D7-0093-6565-41FFCE0C4B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51814-3B91-4036-94D2-3977634EE214}" type="slidenum">
              <a:rPr kumimoji="0" lang="en-US" altLang="ko-KR" sz="1200" b="0" i="0" u="none" strike="noStrike" kern="1200" cap="none" spc="0" normalizeH="0" baseline="0" noProof="0" smtClean="0">
                <a:ln>
                  <a:noFill/>
                </a:ln>
                <a:solidFill>
                  <a:prstClr val="black"/>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728812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946382-D411-C520-84A0-F3A032D134EB}"/>
              </a:ext>
            </a:extLst>
          </p:cNvPr>
          <p:cNvSpPr>
            <a:spLocks noGrp="1"/>
          </p:cNvSpPr>
          <p:nvPr>
            <p:ph type="ctrTitle"/>
          </p:nvPr>
        </p:nvSpPr>
        <p:spPr>
          <a:xfrm>
            <a:off x="1524000" y="1805861"/>
            <a:ext cx="8782050" cy="1323439"/>
          </a:xfrm>
        </p:spPr>
        <p:txBody>
          <a:bodyPr vert="horz" wrap="square" lIns="0" tIns="0" rIns="0" bIns="0" rtlCol="0" anchor="ctr">
            <a:noAutofit/>
          </a:bodyPr>
          <a:lstStyle>
            <a:lvl1pPr algn="l">
              <a:defRPr lang="ko-KR" altLang="en-US" sz="4000" kern="0" spc="-75">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indent="0">
              <a:lnSpc>
                <a:spcPct val="100000"/>
              </a:lnSpc>
            </a:pPr>
            <a:r>
              <a:rPr lang="ko-KR" altLang="en-US" dirty="0"/>
              <a:t>마스터 제목 스타일 편집</a:t>
            </a:r>
          </a:p>
        </p:txBody>
      </p:sp>
    </p:spTree>
    <p:extLst>
      <p:ext uri="{BB962C8B-B14F-4D97-AF65-F5344CB8AC3E}">
        <p14:creationId xmlns:p14="http://schemas.microsoft.com/office/powerpoint/2010/main" val="3287554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66151C6A-4A31-6028-D891-892DA2C6E878}"/>
              </a:ext>
            </a:extLst>
          </p:cNvPr>
          <p:cNvPicPr>
            <a:picLocks noChangeAspect="1"/>
          </p:cNvPicPr>
          <p:nvPr userDrawn="1"/>
        </p:nvPicPr>
        <p:blipFill>
          <a:blip r:embed="rId2"/>
          <a:srcRect t="31103"/>
          <a:stretch>
            <a:fillRect/>
          </a:stretch>
        </p:blipFill>
        <p:spPr>
          <a:xfrm>
            <a:off x="0" y="2133600"/>
            <a:ext cx="12192000" cy="4724400"/>
          </a:xfrm>
          <a:prstGeom prst="rect">
            <a:avLst/>
          </a:prstGeom>
        </p:spPr>
      </p:pic>
      <p:sp>
        <p:nvSpPr>
          <p:cNvPr id="9" name="제목 1">
            <a:extLst>
              <a:ext uri="{FF2B5EF4-FFF2-40B4-BE49-F238E27FC236}">
                <a16:creationId xmlns:a16="http://schemas.microsoft.com/office/drawing/2014/main" id="{EC00DEF6-C823-F463-B07A-6850A29D9EB0}"/>
              </a:ext>
            </a:extLst>
          </p:cNvPr>
          <p:cNvSpPr>
            <a:spLocks noGrp="1"/>
          </p:cNvSpPr>
          <p:nvPr>
            <p:ph type="ctrTitle"/>
          </p:nvPr>
        </p:nvSpPr>
        <p:spPr>
          <a:xfrm>
            <a:off x="1704975" y="425794"/>
            <a:ext cx="8782050" cy="1323439"/>
          </a:xfrm>
        </p:spPr>
        <p:txBody>
          <a:bodyPr vert="horz" wrap="square" lIns="0" tIns="0" rIns="0" bIns="0" rtlCol="0" anchor="ctr">
            <a:noAutofit/>
          </a:bodyPr>
          <a:lstStyle>
            <a:lvl1pPr algn="ctr">
              <a:defRPr lang="ko-KR" altLang="en-US" sz="4400" kern="0" spc="-75">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indent="0">
              <a:lnSpc>
                <a:spcPct val="100000"/>
              </a:lnSpc>
            </a:pPr>
            <a:r>
              <a:rPr lang="ko-KR" altLang="en-US" dirty="0"/>
              <a:t>마스터 제목 스타일 편집</a:t>
            </a:r>
          </a:p>
        </p:txBody>
      </p:sp>
    </p:spTree>
    <p:extLst>
      <p:ext uri="{BB962C8B-B14F-4D97-AF65-F5344CB8AC3E}">
        <p14:creationId xmlns:p14="http://schemas.microsoft.com/office/powerpoint/2010/main" val="1573694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Tree>
    <p:extLst>
      <p:ext uri="{BB962C8B-B14F-4D97-AF65-F5344CB8AC3E}">
        <p14:creationId xmlns:p14="http://schemas.microsoft.com/office/powerpoint/2010/main" val="13401689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8" name="TextBox 7">
            <a:extLst>
              <a:ext uri="{FF2B5EF4-FFF2-40B4-BE49-F238E27FC236}">
                <a16:creationId xmlns:a16="http://schemas.microsoft.com/office/drawing/2014/main" id="{5409B65E-9738-1B6A-2AF5-1B0B23A90293}"/>
              </a:ext>
            </a:extLst>
          </p:cNvPr>
          <p:cNvSpPr txBox="1"/>
          <p:nvPr userDrawn="1"/>
        </p:nvSpPr>
        <p:spPr>
          <a:xfrm>
            <a:off x="10657606" y="135924"/>
            <a:ext cx="1534394"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 AI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개념 및</a:t>
            </a: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기술 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7552426C-BEE3-A46E-36B9-C445D9348E36}"/>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1114020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121C7321-DF29-1109-848C-A21A0DC7D31E}"/>
              </a:ext>
            </a:extLst>
          </p:cNvPr>
          <p:cNvSpPr txBox="1"/>
          <p:nvPr userDrawn="1"/>
        </p:nvSpPr>
        <p:spPr>
          <a:xfrm>
            <a:off x="11417429" y="135924"/>
            <a:ext cx="774571"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2.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웹 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A3E2C145-D797-52B7-00DE-0445B9EBDAEF}"/>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3683100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DEA01D1C-6451-4B0B-BA7E-D6E2A2EDAB82}"/>
              </a:ext>
            </a:extLst>
          </p:cNvPr>
          <p:cNvSpPr txBox="1"/>
          <p:nvPr userDrawn="1"/>
        </p:nvSpPr>
        <p:spPr>
          <a:xfrm>
            <a:off x="10587072" y="135924"/>
            <a:ext cx="160492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3.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환경 구축</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9B2C8184-B79C-57CC-6EA9-2F2C217A53BA}"/>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6926045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DEA01D1C-6451-4B0B-BA7E-D6E2A2EDAB82}"/>
              </a:ext>
            </a:extLst>
          </p:cNvPr>
          <p:cNvSpPr txBox="1"/>
          <p:nvPr userDrawn="1"/>
        </p:nvSpPr>
        <p:spPr>
          <a:xfrm>
            <a:off x="11151330" y="135924"/>
            <a:ext cx="1040670"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4.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파이썬 기초</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9B2C8184-B79C-57CC-6EA9-2F2C217A53BA}"/>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7913543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3452AF80-98E5-00C1-3D29-3B8B2DD8A977}"/>
              </a:ext>
            </a:extLst>
          </p:cNvPr>
          <p:cNvSpPr txBox="1"/>
          <p:nvPr userDrawn="1"/>
        </p:nvSpPr>
        <p:spPr>
          <a:xfrm>
            <a:off x="10421964" y="135924"/>
            <a:ext cx="1770036"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5.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기반 앱 개발</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A6A91D89-397A-E068-6BE5-BD9B20D54C5E}"/>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8297327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C81419ED-A9B4-9A42-11D4-4FB0E5EAA280}"/>
              </a:ext>
            </a:extLst>
          </p:cNvPr>
          <p:cNvSpPr txBox="1"/>
          <p:nvPr userDrawn="1"/>
        </p:nvSpPr>
        <p:spPr>
          <a:xfrm>
            <a:off x="10421964" y="135924"/>
            <a:ext cx="1770036"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6.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기반 웹 개발</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1D72AB4E-5251-9CAB-E1AF-88A45EB47B38}"/>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6435996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582EA657-5168-5360-B9A4-7EDE91C6AE11}"/>
              </a:ext>
            </a:extLst>
          </p:cNvPr>
          <p:cNvSpPr txBox="1"/>
          <p:nvPr userDrawn="1"/>
        </p:nvSpPr>
        <p:spPr>
          <a:xfrm>
            <a:off x="10587072" y="135924"/>
            <a:ext cx="160492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7.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스킬 활용</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FC7CBEF7-0482-7E1B-44B5-2B05B029F355}"/>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5805708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582EA657-5168-5360-B9A4-7EDE91C6AE11}"/>
              </a:ext>
            </a:extLst>
          </p:cNvPr>
          <p:cNvSpPr txBox="1"/>
          <p:nvPr userDrawn="1"/>
        </p:nvSpPr>
        <p:spPr>
          <a:xfrm>
            <a:off x="10845156" y="135924"/>
            <a:ext cx="1346844"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8. LangChain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803FE19F-3A69-62BD-E546-7C8F3141C0FB}"/>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1398020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8" name="TextBox 7">
            <a:extLst>
              <a:ext uri="{FF2B5EF4-FFF2-40B4-BE49-F238E27FC236}">
                <a16:creationId xmlns:a16="http://schemas.microsoft.com/office/drawing/2014/main" id="{C3731146-72F7-AC4E-9825-F03D5E71BDC2}"/>
              </a:ext>
            </a:extLst>
          </p:cNvPr>
          <p:cNvSpPr txBox="1"/>
          <p:nvPr userDrawn="1"/>
        </p:nvSpPr>
        <p:spPr>
          <a:xfrm>
            <a:off x="10999878" y="135924"/>
            <a:ext cx="1192122"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9. RAG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코드리뷰</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40AB63B1-ECED-A82E-0791-A3F087C35E83}"/>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7795511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177812" y="135924"/>
            <a:ext cx="101418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10. RAG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구현</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30131704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093558" y="135924"/>
            <a:ext cx="1098442"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11. Agent</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개요</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5197787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030143" y="135924"/>
            <a:ext cx="1161857"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12. LangGraph</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4207502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0397919" y="135924"/>
            <a:ext cx="1794081"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13. </a:t>
            </a:r>
            <a:r>
              <a:rPr lang="ko-KR" altLang="en-US" sz="1200" b="1" i="0" u="none" strike="noStrike" spc="-50" baseline="0" dirty="0" err="1">
                <a:solidFill>
                  <a:srgbClr val="00143F"/>
                </a:solidFill>
                <a:effectLst/>
                <a:latin typeface="나눔스퀘어 Bold" panose="020B0600000101010101" pitchFamily="50" charset="-127"/>
                <a:ea typeface="나눔스퀘어 Bold" panose="020B0600000101010101" pitchFamily="50" charset="-127"/>
              </a:rPr>
              <a:t>하네스엔지니어링</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 개요</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4259770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228275" y="135924"/>
            <a:ext cx="963725"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14.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과제수행</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40100163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50100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공백">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noProof="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11739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0D05D0EC-9124-8E2B-B62F-CECEFC6651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00EE6CFE-3345-681E-87C9-130DF4CC9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45EFB1F0-DFE0-429D-C395-0B2ECFFD3B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endParaRPr lang="ko-KR" altLang="en-US" dirty="0"/>
          </a:p>
        </p:txBody>
      </p:sp>
      <p:sp>
        <p:nvSpPr>
          <p:cNvPr id="5" name="바닥글 개체 틀 4">
            <a:extLst>
              <a:ext uri="{FF2B5EF4-FFF2-40B4-BE49-F238E27FC236}">
                <a16:creationId xmlns:a16="http://schemas.microsoft.com/office/drawing/2014/main" id="{BABDC94E-080A-AD3E-B6F2-2EF5E6CDB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endParaRPr lang="ko-KR" altLang="en-US" dirty="0"/>
          </a:p>
        </p:txBody>
      </p:sp>
      <p:sp>
        <p:nvSpPr>
          <p:cNvPr id="6" name="슬라이드 번호 개체 틀 5">
            <a:extLst>
              <a:ext uri="{FF2B5EF4-FFF2-40B4-BE49-F238E27FC236}">
                <a16:creationId xmlns:a16="http://schemas.microsoft.com/office/drawing/2014/main" id="{ADAA49E1-BF42-0DF3-7D7D-5C9D4A9C9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fld id="{9B39AC2E-0BC5-4C4B-9DA4-EF26BB28E670}" type="slidenum">
              <a:rPr lang="ko-KR" altLang="en-US" smtClean="0"/>
              <a:pPr/>
              <a:t>‹#›</a:t>
            </a:fld>
            <a:endParaRPr lang="ko-KR" altLang="en-US" dirty="0"/>
          </a:p>
        </p:txBody>
      </p:sp>
    </p:spTree>
    <p:extLst>
      <p:ext uri="{BB962C8B-B14F-4D97-AF65-F5344CB8AC3E}">
        <p14:creationId xmlns:p14="http://schemas.microsoft.com/office/powerpoint/2010/main" val="397318416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Lst>
  <p:hf hdr="0" ftr="0" dt="0"/>
  <p:txStyles>
    <p:titleStyle>
      <a:lvl1pPr algn="l" defTabSz="914400" rtl="0" eaLnBrk="1" latinLnBrk="1" hangingPunct="1">
        <a:lnSpc>
          <a:spcPct val="90000"/>
        </a:lnSpc>
        <a:spcBef>
          <a:spcPct val="0"/>
        </a:spcBef>
        <a:buNone/>
        <a:defRPr sz="4400" kern="1200">
          <a:solidFill>
            <a:schemeClr val="tx1"/>
          </a:solidFill>
          <a:latin typeface="나눔스퀘어 Bold" panose="020B0600000101010101" pitchFamily="50" charset="-127"/>
          <a:ea typeface="나눔스퀘어 Bold" panose="020B060000010101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스퀘어 Bold" panose="020B0600000101010101" pitchFamily="50" charset="-127"/>
          <a:ea typeface="나눔스퀘어 Bold"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나눔스퀘어 Bold" panose="020B0600000101010101" pitchFamily="50" charset="-127"/>
          <a:ea typeface="나눔스퀘어 Bold" panose="020B0600000101010101" pitchFamily="50"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나눔스퀘어 Bold" panose="020B0600000101010101" pitchFamily="50" charset="-127"/>
          <a:ea typeface="나눔스퀘어 Bold" panose="020B0600000101010101" pitchFamily="50"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나눔스퀘어 Bold" panose="020B0600000101010101" pitchFamily="50" charset="-127"/>
          <a:ea typeface="나눔스퀘어 Bold" panose="020B0600000101010101" pitchFamily="50"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나눔스퀘어 Bold" panose="020B0600000101010101" pitchFamily="50" charset="-127"/>
          <a:ea typeface="나눔스퀘어 Bold" panose="020B060000010101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A9268-630F-CA18-66AB-FBF00DE4C4BA}"/>
            </a:ext>
          </a:extLst>
        </p:cNvPr>
        <p:cNvGrpSpPr/>
        <p:nvPr/>
      </p:nvGrpSpPr>
      <p:grpSpPr>
        <a:xfrm>
          <a:off x="0" y="0"/>
          <a:ext cx="0" cy="0"/>
          <a:chOff x="0" y="0"/>
          <a:chExt cx="0" cy="0"/>
        </a:xfrm>
      </p:grpSpPr>
      <p:sp>
        <p:nvSpPr>
          <p:cNvPr id="6" name="제목 1">
            <a:extLst>
              <a:ext uri="{FF2B5EF4-FFF2-40B4-BE49-F238E27FC236}">
                <a16:creationId xmlns:a16="http://schemas.microsoft.com/office/drawing/2014/main" id="{8C44617C-D868-587B-EE10-9892911709A8}"/>
              </a:ext>
            </a:extLst>
          </p:cNvPr>
          <p:cNvSpPr>
            <a:spLocks noGrp="1"/>
          </p:cNvSpPr>
          <p:nvPr>
            <p:ph type="title"/>
          </p:nvPr>
        </p:nvSpPr>
        <p:spPr/>
        <p:txBody>
          <a:bodyPr>
            <a:normAutofit/>
          </a:bodyPr>
          <a:lstStyle/>
          <a:p>
            <a:r>
              <a:rPr lang="ko-KR" altLang="en-US" sz="3200" b="0" dirty="0">
                <a:solidFill>
                  <a:prstClr val="black"/>
                </a:solidFill>
                <a:latin typeface="HY견고딕" panose="02030600000101010101" pitchFamily="18" charset="-127"/>
                <a:ea typeface="HY견고딕" panose="02030600000101010101" pitchFamily="18" charset="-127"/>
                <a:cs typeface="+mn-cs"/>
              </a:rPr>
              <a:t>과제 </a:t>
            </a:r>
            <a:r>
              <a:rPr lang="en-US" altLang="ko-KR" sz="3200" b="0" dirty="0">
                <a:solidFill>
                  <a:prstClr val="black"/>
                </a:solidFill>
                <a:latin typeface="HY견고딕" panose="02030600000101010101" pitchFamily="18" charset="-127"/>
                <a:ea typeface="HY견고딕" panose="02030600000101010101" pitchFamily="18" charset="-127"/>
                <a:cs typeface="+mn-cs"/>
              </a:rPr>
              <a:t>1: </a:t>
            </a:r>
            <a:r>
              <a:rPr kumimoji="0" lang="ko-KR" altLang="en-US" sz="3200" b="0" i="0" u="none" strike="noStrike" kern="1200" cap="none" spc="0" normalizeH="0" baseline="0" noProof="0" dirty="0">
                <a:ln>
                  <a:noFill/>
                </a:ln>
                <a:solidFill>
                  <a:prstClr val="black"/>
                </a:solidFill>
                <a:effectLst/>
                <a:uLnTx/>
                <a:uFillTx/>
                <a:latin typeface="HY견고딕" panose="02030600000101010101" pitchFamily="18" charset="-127"/>
                <a:ea typeface="HY견고딕" panose="02030600000101010101" pitchFamily="18" charset="-127"/>
                <a:cs typeface="+mn-cs"/>
              </a:rPr>
              <a:t>이상 동작 감지 </a:t>
            </a:r>
            <a:r>
              <a:rPr kumimoji="0" lang="en-US" altLang="ko-KR" sz="3200" b="0" i="0" u="none" strike="noStrike" kern="1200" cap="none" spc="0" normalizeH="0" baseline="0" noProof="0" dirty="0">
                <a:ln>
                  <a:noFill/>
                </a:ln>
                <a:solidFill>
                  <a:prstClr val="black"/>
                </a:solidFill>
                <a:effectLst/>
                <a:uLnTx/>
                <a:uFillTx/>
                <a:latin typeface="HY견고딕" panose="02030600000101010101" pitchFamily="18" charset="-127"/>
                <a:ea typeface="HY견고딕" panose="02030600000101010101" pitchFamily="18" charset="-127"/>
                <a:cs typeface="+mn-cs"/>
              </a:rPr>
              <a:t>Agent</a:t>
            </a:r>
            <a:endParaRPr lang="en-US" altLang="ko-KR" sz="1800" dirty="0">
              <a:solidFill>
                <a:srgbClr val="000000"/>
              </a:solidFill>
              <a:latin typeface="HY견고딕" panose="02030600000101010101" pitchFamily="18" charset="-127"/>
              <a:ea typeface="HY견고딕" panose="02030600000101010101" pitchFamily="18" charset="-127"/>
            </a:endParaRPr>
          </a:p>
        </p:txBody>
      </p:sp>
      <p:sp>
        <p:nvSpPr>
          <p:cNvPr id="55" name="슬라이드 번호 개체 틀 2">
            <a:extLst>
              <a:ext uri="{FF2B5EF4-FFF2-40B4-BE49-F238E27FC236}">
                <a16:creationId xmlns:a16="http://schemas.microsoft.com/office/drawing/2014/main" id="{CB54B6F0-89C6-C669-EA0B-F63DB36A5778}"/>
              </a:ext>
            </a:extLst>
          </p:cNvPr>
          <p:cNvSpPr>
            <a:spLocks noGrp="1"/>
          </p:cNvSpPr>
          <p:nvPr>
            <p:ph type="sldNum" sz="quarter" idx="4"/>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n-US" altLang="ko-KR" sz="1200" b="0" i="0" u="none" strike="noStrike" kern="1200" cap="none" spc="0" normalizeH="0" baseline="0" noProof="0" smtClean="0">
                <a:ln>
                  <a:noFill/>
                </a:ln>
                <a:solidFill>
                  <a:prstClr val="white"/>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dirty="0">
              <a:ln>
                <a:noFill/>
              </a:ln>
              <a:solidFill>
                <a:prstClr val="white"/>
              </a:solidFill>
              <a:effectLst/>
              <a:uLnTx/>
              <a:uFillTx/>
              <a:latin typeface="맑은 고딕" panose="020B0503020000020004" pitchFamily="50" charset="-127"/>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FA8BB391-0806-0062-3ECA-0961F4CE66E9}"/>
              </a:ext>
            </a:extLst>
          </p:cNvPr>
          <p:cNvSpPr/>
          <p:nvPr/>
        </p:nvSpPr>
        <p:spPr>
          <a:xfrm>
            <a:off x="287401" y="1029918"/>
            <a:ext cx="11604562" cy="3231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200"/>
              </a:spcAft>
              <a:buClrTx/>
              <a:buSzTx/>
              <a:buFontTx/>
              <a:buNone/>
              <a:tabLst/>
              <a:defRPr/>
            </a:pP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 다음 비즈니스 상황 설명서를 읽고 </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과제 정의서</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PRD, Prompts/Architecture/UI.md</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를 작성하고</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Agent </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시스템을 구현하세요</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a:t>
            </a:r>
            <a:endPar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4" name="TextBox 3">
            <a:extLst>
              <a:ext uri="{FF2B5EF4-FFF2-40B4-BE49-F238E27FC236}">
                <a16:creationId xmlns:a16="http://schemas.microsoft.com/office/drawing/2014/main" id="{E862A677-E47E-9FC1-C844-A3E4364CA4DA}"/>
              </a:ext>
            </a:extLst>
          </p:cNvPr>
          <p:cNvSpPr txBox="1"/>
          <p:nvPr/>
        </p:nvSpPr>
        <p:spPr>
          <a:xfrm>
            <a:off x="371475" y="1556792"/>
            <a:ext cx="11557173" cy="43396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작업자가 설비와 장비를 이용하여 생산활동을 수행하는 제조기업이다. 안전관리부서에서는 현장 작업자의 이상 동작과 안전모 미착용을 신속하게 파악하고, 감독자가 필요한 확인과 대응을 할 수 있도록 하여 안전사고의 위험을 줄이고자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현재 작업 현장에는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CCTV가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설치되어 작업자의 활동을 지속적으로 촬영하고 있다. 그러나 촬영된 영상에서 이상 동작이나 안전모 미착용 여부를 자동으로 파악하는 기능은 없어, 감독자가 화면을 직접 살펴보며 현장 상황을 확인하고 있다. 영상이 계속 수집되더라도 감독자가 해당 장면을 확인하지 못하면 주의가 필요한 상황을 즉시 알아차리기 어렵다.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감독자는 현장 관리와 다른 업무를 함께 수행하므로 CCTV 화면을 계속 지켜보는 데 부담이 있다. 작업자의 자세나 움직임에 이상이 발생하거나 안전모를 착용하지 않은 상태로 작업하더라도, 이를 발견하고 현장에 확인하기까지 시간이 걸릴 수 있다. 안전관리부서는 영상에서 확인할 수 있는 이상 상황을 더 빠르게 찾아 감독자에게 전달할 필요가 있다고 보고 있다.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현장에서는 CCTV 영상을 실시간으로 분석하여 작업자의 자세와 움직임을 살펴보고, 안전모 착용 여부도 함께 확인할 수 있기를 원한다. 이상 상황을 감지했을 때에는 감독자가 어떤 상황이 발생했는지 파악하고, 대응이 필요한 정도를 구분할 수 있어야 한다. 이를 위해 경보를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주의’와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위험’의</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두 단계로 구분하여 제공하고자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또한 감독자가 화면을 계속 보고 있지 않더라도 경보를 인지할 수 있도록, 화면의 점멸 표시와 사이렌 또는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벨을</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활용한 알림을 기대하고 있다. 감독자는 경보를 통해 현장 상황을 확인하고 필요한 대응을 수행하며, 대응 이후에는 경보를 해제할 수 있어야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기존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CCTV의</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입력 영상을 활용하여 이러한 감시 체계를 시범 운영하고자 한다. 사람의 주요 신체 지점 17곳을 추출하여 자세와 움직임을 분석하는 데 활용할 수 있는 경량 AI 모델과, 안전모 착용 여부를 구분하는 AI 모델을 사용할 수 있다. 우선 사무용 PC 환경에서 운영하고자 하며, CCTV 영상은 초당 10프레임을 분석하여 현장의 변화를 지속적으로 확인할 수 있어야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이에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P기업의</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안전관리부서는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AI를</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활용하여 작업자의 이상 동작과 안전모 미착용을 감지하고, 상황에 맞는 경보로 감독자의 현장 확인과 대응을 지원하는 체계를 마련하고자 한다. 이를 통해 반복적인 영상 감시 부담을 줄이고, 주의가 필요한 상황을 발견한 뒤 대응하기까지의 지연을 줄여 현장 안전관리의 실효성을 높이고자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위의 상황을 고려하여 다음의 목적을 달성하고자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CCTV 영상을 실시간으로 분석하여 작업자의 이상 동작과 안전모 미착용을 신속하게 파악한다.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감지된 상황을 주의와 위험의 두 단계로 구분하여 감독자가 대응 필요성을 판단할 수 있도록 지원한다.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화면의 점멸 표시와 사이렌 또는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벨을</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통해 이상 상황을 알리고, 대응 이후 경보를 해제할 수 있도록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사무용 PC 환경에서 초당 10프레임의 영상 분석을 수행하여 지속적인 현장 감시를 지원한다.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감독자의 상시 영상 확인 부담과 이상 상황에 대한 인지 지연을 줄여, 신속한 현장 대응과 안전사고 예방을 지원한다.</a:t>
            </a:r>
          </a:p>
        </p:txBody>
      </p:sp>
    </p:spTree>
    <p:extLst>
      <p:ext uri="{BB962C8B-B14F-4D97-AF65-F5344CB8AC3E}">
        <p14:creationId xmlns:p14="http://schemas.microsoft.com/office/powerpoint/2010/main" val="1875301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52748-68FD-E53F-5B43-2A06D05D14D6}"/>
            </a:ext>
          </a:extLst>
        </p:cNvPr>
        <p:cNvGrpSpPr/>
        <p:nvPr/>
      </p:nvGrpSpPr>
      <p:grpSpPr>
        <a:xfrm>
          <a:off x="0" y="0"/>
          <a:ext cx="0" cy="0"/>
          <a:chOff x="0" y="0"/>
          <a:chExt cx="0" cy="0"/>
        </a:xfrm>
      </p:grpSpPr>
      <p:sp>
        <p:nvSpPr>
          <p:cNvPr id="11" name="직사각형 10">
            <a:extLst>
              <a:ext uri="{FF2B5EF4-FFF2-40B4-BE49-F238E27FC236}">
                <a16:creationId xmlns:a16="http://schemas.microsoft.com/office/drawing/2014/main" id="{7A1B3AA9-07A7-55DE-2B55-CD934922139A}"/>
              </a:ext>
            </a:extLst>
          </p:cNvPr>
          <p:cNvSpPr/>
          <p:nvPr/>
        </p:nvSpPr>
        <p:spPr>
          <a:xfrm>
            <a:off x="504824" y="1040036"/>
            <a:ext cx="11387139"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아웃풋 이미지</a:t>
            </a:r>
            <a:endParaRPr kumimoji="0" lang="ko-KR" altLang="en-US" sz="1600" b="1" i="0" u="none" strike="noStrike" kern="1200" cap="none" spc="0" normalizeH="0" baseline="0" noProof="0" dirty="0">
              <a:ln w="3175">
                <a:solidFill>
                  <a:srgbClr val="2C85AE">
                    <a:shade val="1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 name="제목 1">
            <a:extLst>
              <a:ext uri="{FF2B5EF4-FFF2-40B4-BE49-F238E27FC236}">
                <a16:creationId xmlns:a16="http://schemas.microsoft.com/office/drawing/2014/main" id="{D6C1496E-C72F-1892-49C4-2482AB919CC5}"/>
              </a:ext>
            </a:extLst>
          </p:cNvPr>
          <p:cNvSpPr>
            <a:spLocks noGrp="1"/>
          </p:cNvSpPr>
          <p:nvPr>
            <p:ph type="title"/>
          </p:nvPr>
        </p:nvSpPr>
        <p:spPr/>
        <p:txBody>
          <a:bodyPr>
            <a:normAutofit/>
          </a:bodyPr>
          <a:lstStyle/>
          <a:p>
            <a:r>
              <a:rPr lang="ko-KR" altLang="en-US" sz="3200" b="0" dirty="0">
                <a:solidFill>
                  <a:prstClr val="black"/>
                </a:solidFill>
                <a:latin typeface="HY견고딕" panose="02030600000101010101" pitchFamily="18" charset="-127"/>
                <a:ea typeface="HY견고딕" panose="02030600000101010101" pitchFamily="18" charset="-127"/>
              </a:rPr>
              <a:t>과제 </a:t>
            </a:r>
            <a:r>
              <a:rPr lang="en-US" altLang="ko-KR" sz="3200" b="0" dirty="0">
                <a:solidFill>
                  <a:prstClr val="black"/>
                </a:solidFill>
                <a:latin typeface="HY견고딕" panose="02030600000101010101" pitchFamily="18" charset="-127"/>
                <a:ea typeface="HY견고딕" panose="02030600000101010101" pitchFamily="18" charset="-127"/>
              </a:rPr>
              <a:t>1: </a:t>
            </a:r>
            <a:r>
              <a:rPr lang="ko-KR" altLang="en-US" sz="3200" b="0" dirty="0">
                <a:solidFill>
                  <a:prstClr val="black"/>
                </a:solidFill>
                <a:latin typeface="HY견고딕" panose="02030600000101010101" pitchFamily="18" charset="-127"/>
                <a:ea typeface="HY견고딕" panose="02030600000101010101" pitchFamily="18" charset="-127"/>
              </a:rPr>
              <a:t>이상 동작 감지 </a:t>
            </a:r>
            <a:r>
              <a:rPr lang="en-US" altLang="ko-KR" sz="3200" b="0" dirty="0">
                <a:solidFill>
                  <a:prstClr val="black"/>
                </a:solidFill>
                <a:latin typeface="HY견고딕" panose="02030600000101010101" pitchFamily="18" charset="-127"/>
                <a:ea typeface="HY견고딕" panose="02030600000101010101" pitchFamily="18" charset="-127"/>
              </a:rPr>
              <a:t>Agent</a:t>
            </a:r>
            <a:endParaRPr lang="en-US" altLang="ko-KR" sz="1800" dirty="0">
              <a:solidFill>
                <a:srgbClr val="000000"/>
              </a:solidFill>
              <a:latin typeface="HY견고딕" panose="02030600000101010101" pitchFamily="18" charset="-127"/>
              <a:ea typeface="HY견고딕" panose="02030600000101010101" pitchFamily="18" charset="-127"/>
            </a:endParaRPr>
          </a:p>
        </p:txBody>
      </p:sp>
      <p:sp>
        <p:nvSpPr>
          <p:cNvPr id="55" name="슬라이드 번호 개체 틀 2">
            <a:extLst>
              <a:ext uri="{FF2B5EF4-FFF2-40B4-BE49-F238E27FC236}">
                <a16:creationId xmlns:a16="http://schemas.microsoft.com/office/drawing/2014/main" id="{C995EDBB-9793-2899-608A-4C298558F8B1}"/>
              </a:ext>
            </a:extLst>
          </p:cNvPr>
          <p:cNvSpPr>
            <a:spLocks noGrp="1"/>
          </p:cNvSpPr>
          <p:nvPr>
            <p:ph type="sldNum" sz="quarter" idx="4"/>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n-US" altLang="ko-KR" sz="1200" b="0" i="0" u="none" strike="noStrike" kern="1200" cap="none" spc="0" normalizeH="0" baseline="0" noProof="0" smtClean="0">
                <a:ln>
                  <a:noFill/>
                </a:ln>
                <a:solidFill>
                  <a:prstClr val="white"/>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dirty="0">
              <a:ln>
                <a:noFill/>
              </a:ln>
              <a:solidFill>
                <a:prstClr val="white"/>
              </a:solidFill>
              <a:effectLst/>
              <a:uLnTx/>
              <a:uFillTx/>
              <a:latin typeface="맑은 고딕" panose="020B0503020000020004" pitchFamily="50" charset="-127"/>
              <a:ea typeface="맑은 고딕" panose="020B0503020000020004" pitchFamily="50" charset="-127"/>
              <a:cs typeface="+mn-cs"/>
            </a:endParaRPr>
          </a:p>
        </p:txBody>
      </p:sp>
      <p:pic>
        <p:nvPicPr>
          <p:cNvPr id="7" name="그림 6">
            <a:extLst>
              <a:ext uri="{FF2B5EF4-FFF2-40B4-BE49-F238E27FC236}">
                <a16:creationId xmlns:a16="http://schemas.microsoft.com/office/drawing/2014/main" id="{B2CAF812-6AA4-B5EB-D8F8-36B305EB9B04}"/>
              </a:ext>
            </a:extLst>
          </p:cNvPr>
          <p:cNvPicPr>
            <a:picLocks noChangeAspect="1"/>
          </p:cNvPicPr>
          <p:nvPr/>
        </p:nvPicPr>
        <p:blipFill>
          <a:blip r:embed="rId3"/>
          <a:stretch>
            <a:fillRect/>
          </a:stretch>
        </p:blipFill>
        <p:spPr>
          <a:xfrm>
            <a:off x="839416" y="1525297"/>
            <a:ext cx="10225136" cy="5040560"/>
          </a:xfrm>
          <a:prstGeom prst="rect">
            <a:avLst/>
          </a:prstGeom>
          <a:ln>
            <a:solidFill>
              <a:schemeClr val="bg1">
                <a:lumMod val="75000"/>
              </a:schemeClr>
            </a:solidFill>
          </a:ln>
        </p:spPr>
      </p:pic>
    </p:spTree>
    <p:extLst>
      <p:ext uri="{BB962C8B-B14F-4D97-AF65-F5344CB8AC3E}">
        <p14:creationId xmlns:p14="http://schemas.microsoft.com/office/powerpoint/2010/main" val="2838375003"/>
      </p:ext>
    </p:extLst>
  </p:cSld>
  <p:clrMapOvr>
    <a:masterClrMapping/>
  </p:clrMapOvr>
</p:sld>
</file>

<file path=ppt/theme/theme1.xml><?xml version="1.0" encoding="utf-8"?>
<a:theme xmlns:a="http://schemas.openxmlformats.org/drawingml/2006/main" name="Office 테마">
  <a:themeElements>
    <a:clrScheme name="사용자 지정 1371">
      <a:dk1>
        <a:sysClr val="windowText" lastClr="000000"/>
      </a:dk1>
      <a:lt1>
        <a:sysClr val="window" lastClr="FFFFFF"/>
      </a:lt1>
      <a:dk2>
        <a:srgbClr val="31484E"/>
      </a:dk2>
      <a:lt2>
        <a:srgbClr val="E5E9F5"/>
      </a:lt2>
      <a:accent1>
        <a:srgbClr val="56D49C"/>
      </a:accent1>
      <a:accent2>
        <a:srgbClr val="575A6B"/>
      </a:accent2>
      <a:accent3>
        <a:srgbClr val="57B5D3"/>
      </a:accent3>
      <a:accent4>
        <a:srgbClr val="D85295"/>
      </a:accent4>
      <a:accent5>
        <a:srgbClr val="81D05A"/>
      </a:accent5>
      <a:accent6>
        <a:srgbClr val="5A92D0"/>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477</Words>
  <Application>Microsoft Office PowerPoint</Application>
  <PresentationFormat>와이드스크린</PresentationFormat>
  <Paragraphs>21</Paragraphs>
  <Slides>2</Slides>
  <Notes>2</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2</vt:i4>
      </vt:variant>
    </vt:vector>
  </HeadingPairs>
  <TitlesOfParts>
    <vt:vector size="9" baseType="lpstr">
      <vt:lpstr>Arial</vt:lpstr>
      <vt:lpstr>HY견고딕</vt:lpstr>
      <vt:lpstr>나눔스퀘어</vt:lpstr>
      <vt:lpstr>나눔스퀘어 Bold</vt:lpstr>
      <vt:lpstr>나눔스퀘어 ExtraBold</vt:lpstr>
      <vt:lpstr>맑은 고딕</vt:lpstr>
      <vt:lpstr>Office 테마</vt:lpstr>
      <vt:lpstr>과제 1: 이상 동작 감지 Agent</vt:lpstr>
      <vt:lpstr>과제 1: 이상 동작 감지 Agent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훈 백</dc:creator>
  <cp:lastModifiedBy>유 성현</cp:lastModifiedBy>
  <cp:revision>11</cp:revision>
  <dcterms:created xsi:type="dcterms:W3CDTF">2026-06-09T00:26:02Z</dcterms:created>
  <dcterms:modified xsi:type="dcterms:W3CDTF">2026-09-22T20:27:07Z</dcterms:modified>
</cp:coreProperties>
</file>