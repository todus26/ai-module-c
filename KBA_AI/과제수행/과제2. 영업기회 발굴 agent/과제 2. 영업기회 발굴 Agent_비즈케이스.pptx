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5"/>
  </p:notesMasterIdLst>
  <p:sldIdLst>
    <p:sldId id="433" r:id="rId2"/>
    <p:sldId id="595" r:id="rId3"/>
    <p:sldId id="58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69832" autoAdjust="0"/>
  </p:normalViewPr>
  <p:slideViewPr>
    <p:cSldViewPr snapToGrid="0">
      <p:cViewPr varScale="1">
        <p:scale>
          <a:sx n="65" d="100"/>
          <a:sy n="65" d="100"/>
        </p:scale>
        <p:origin x="131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2DD2D-E7B9-4E8B-A177-739A266508B3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B979E-1388-4835-8479-85E89DB6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13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626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3DCD-3CBB-0614-FDCB-E892FFE2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45A0DB-D3C5-DEDA-1501-DA49647DF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E93773-3624-8556-194B-CF58B64D3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C8C12C-2488-E1E4-57C3-026A11AA6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925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C761B-82F7-F7CE-02E2-5D0E7E33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349EA2-5A74-6832-C6E4-E0F3E2C0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872E3-B000-86A5-D60E-15B15528F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9356EE-494C-3366-279B-EDFF37004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7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46382-D411-C520-84A0-F3A032D13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5861"/>
            <a:ext cx="8782050" cy="1323439"/>
          </a:xfr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ko-KR" altLang="en-US" sz="4000" kern="0" spc="-75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8755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151C6A-4A31-6028-D891-892DA2C6E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103"/>
          <a:stretch>
            <a:fillRect/>
          </a:stretch>
        </p:blipFill>
        <p:spPr>
          <a:xfrm>
            <a:off x="0" y="2133600"/>
            <a:ext cx="12192000" cy="47244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EC00DEF6-C823-F463-B07A-6850A29D9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5" y="425794"/>
            <a:ext cx="8782050" cy="1323439"/>
          </a:xfrm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ko-KR" altLang="en-US" sz="4400" kern="0" spc="-75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7369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4016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9B65E-9738-1B6A-2AF5-1B0B23A90293}"/>
              </a:ext>
            </a:extLst>
          </p:cNvPr>
          <p:cNvSpPr txBox="1"/>
          <p:nvPr userDrawn="1"/>
        </p:nvSpPr>
        <p:spPr>
          <a:xfrm>
            <a:off x="10657606" y="13592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AI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개념 및</a:t>
            </a: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552426C-BEE3-A46E-36B9-C445D9348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11140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C7321-DF29-1109-848C-A21A0DC7D31E}"/>
              </a:ext>
            </a:extLst>
          </p:cNvPr>
          <p:cNvSpPr txBox="1"/>
          <p:nvPr userDrawn="1"/>
        </p:nvSpPr>
        <p:spPr>
          <a:xfrm>
            <a:off x="11417429" y="135924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2C145-D797-52B7-00DE-0445B9EBD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368310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01D1C-6451-4B0B-BA7E-D6E2A2EDAB82}"/>
              </a:ext>
            </a:extLst>
          </p:cNvPr>
          <p:cNvSpPr txBox="1"/>
          <p:nvPr userDrawn="1"/>
        </p:nvSpPr>
        <p:spPr>
          <a:xfrm>
            <a:off x="10587072" y="135924"/>
            <a:ext cx="1604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환경 구축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C8184-B79C-57CC-6EA9-2F2C217A5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692604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01D1C-6451-4B0B-BA7E-D6E2A2EDAB82}"/>
              </a:ext>
            </a:extLst>
          </p:cNvPr>
          <p:cNvSpPr txBox="1"/>
          <p:nvPr userDrawn="1"/>
        </p:nvSpPr>
        <p:spPr>
          <a:xfrm>
            <a:off x="11151330" y="135924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파이썬 기초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C8184-B79C-57CC-6EA9-2F2C217A5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79135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52AF80-98E5-00C1-3D29-3B8B2DD8A977}"/>
              </a:ext>
            </a:extLst>
          </p:cNvPr>
          <p:cNvSpPr txBox="1"/>
          <p:nvPr userDrawn="1"/>
        </p:nvSpPr>
        <p:spPr>
          <a:xfrm>
            <a:off x="10421964" y="135924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기반 앱 개발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A91D89-397A-E068-6BE5-BD9B20D54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829732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419ED-A9B4-9A42-11D4-4FB0E5EAA280}"/>
              </a:ext>
            </a:extLst>
          </p:cNvPr>
          <p:cNvSpPr txBox="1"/>
          <p:nvPr userDrawn="1"/>
        </p:nvSpPr>
        <p:spPr>
          <a:xfrm>
            <a:off x="10421964" y="135924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기반 웹 개발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72AB4E-5251-9CAB-E1AF-88A45EB47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64359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EA657-5168-5360-B9A4-7EDE91C6AE11}"/>
              </a:ext>
            </a:extLst>
          </p:cNvPr>
          <p:cNvSpPr txBox="1"/>
          <p:nvPr userDrawn="1"/>
        </p:nvSpPr>
        <p:spPr>
          <a:xfrm>
            <a:off x="10587072" y="135924"/>
            <a:ext cx="1604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스킬 활용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CBEF7-0482-7E1B-44B5-2B05B029F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580570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EA657-5168-5360-B9A4-7EDE91C6AE11}"/>
              </a:ext>
            </a:extLst>
          </p:cNvPr>
          <p:cNvSpPr txBox="1"/>
          <p:nvPr userDrawn="1"/>
        </p:nvSpPr>
        <p:spPr>
          <a:xfrm>
            <a:off x="10845156" y="135924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8. LangChain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FE19F-3A69-62BD-E546-7C8F3141C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139802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31146-72F7-AC4E-9825-F03D5E71BDC2}"/>
              </a:ext>
            </a:extLst>
          </p:cNvPr>
          <p:cNvSpPr txBox="1"/>
          <p:nvPr userDrawn="1"/>
        </p:nvSpPr>
        <p:spPr>
          <a:xfrm>
            <a:off x="10999878" y="135924"/>
            <a:ext cx="1192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9. RAG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코드리뷰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0AB63B1-ECED-A82E-0791-A3F087C35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779551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177812" y="135924"/>
            <a:ext cx="1014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10. RAG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3013170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093558" y="135924"/>
            <a:ext cx="1098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11. Agent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개요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51977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030143" y="135924"/>
            <a:ext cx="1161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12. LangGraph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420750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0397919" y="135924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13. </a:t>
            </a:r>
            <a:r>
              <a:rPr lang="ko-KR" altLang="en-US" sz="1200" b="1" i="0" u="none" strike="noStrike" spc="-50" baseline="0" dirty="0" err="1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하네스엔지니어링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개요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425977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228275" y="135924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14.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과제수행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4010016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0100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73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05D0EC-9124-8E2B-B62F-CECEFC66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EE6CFE-3345-681E-87C9-130DF4CC9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EFB1F0-DFE0-429D-C395-0B2ECFFD3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BDC94E-080A-AD3E-B6F2-2EF5E6CDB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A49E1-BF42-0DF3-7D7D-5C9D4A9C9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18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77B3-4CC7-FBDF-B6E2-0637EB49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8B7DF66D-F74A-5D0B-1C6E-DD2CB227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과제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2: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영업기회 발굴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Agent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id="{BAF49815-9759-B6F9-18CF-97C58454E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A09401-2DDC-8E9A-49F7-C3CF75551ED0}"/>
              </a:ext>
            </a:extLst>
          </p:cNvPr>
          <p:cNvSpPr/>
          <p:nvPr/>
        </p:nvSpPr>
        <p:spPr>
          <a:xfrm>
            <a:off x="287401" y="1029918"/>
            <a:ext cx="116045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다음 비즈니스 상황 설명서를 읽고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과제 정의서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PRD, Prompts/Architecture/UI.md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를 작성하고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Agent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시스템을 구현하세요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!!</a:t>
            </a: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72FF0-B16E-4448-E69B-D7A0B74D4E14}"/>
              </a:ext>
            </a:extLst>
          </p:cNvPr>
          <p:cNvSpPr txBox="1"/>
          <p:nvPr/>
        </p:nvSpPr>
        <p:spPr>
          <a:xfrm>
            <a:off x="371475" y="1556792"/>
            <a:ext cx="115571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기업은 다양한 산업군의 기업 고객에게 제품을 공급하고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영업부서에서는 고객사와의 거래를 지속적으로 확대하고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고객의 요구에 맞는 새로운 영업기회를 발굴하여 매출을 높이고자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이를 위해 영업 담당자는 고객사를 방문하기 전에 고객사의 기본 현황과 거래 실적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이전 미팅에서 논의한 내용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최근 이슈와 산업 동향 등을 파악해야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현재 고객사 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방문일지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 매출정보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 및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산업군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관련 뉴스는 여러 사내 시스템과 엑셀 파일에 분산되어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담당자는 방문할 고객사의 자료를 각각 찾아 매출과 주요 구매 품목을 확인하고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과거 미팅 내용과 요청사항을 정리한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관련 뉴스를 검색하여 상담을 준비하고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과정에서 자료를 수집하고 정리하는 데 많은 시간이 소요되며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여러 정보를 연결하여 고객사의 상황을 종합적으로 판단하기 어렵다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예를 들어 고객사의 사업 확대 소식은 추가 제품 공급의 기회가 될 수 있고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구매 감소와 반복되는 요청사항은 거래 관계를 점검해야 할 신호가 될 수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그러나 정보를 개별적으로 확인하다 보니 이러한 변화를 제때 발견하거나 실제 영업활동에 연결하지 못할 가능성이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어떤 기회와 위험요인을 중요하게 볼 것인지도 담당자의 경험에 크게 의존하고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또한 동일한 고객사를 대상으로 하더라도 담당자마다 방문 준비 자료의 내용과 정리 방식이 다르다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이전 상담에서 어떤 문제가 제기되었고 이번 방문에서는 무엇을 확인해야 하는지 일관되게 파악하기 어려워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조직 차원에서 고객에 대한 이해를 축적하고 공유하는 데 한계가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영업 현장에서는 방문 지역의 지도에서 고객사를 선택하고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해당 고객사의 위치와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산업군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기본정보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매출 및 주요 구매 품목을 함께 확인할 수 있기를 원한다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이어서 과거 미팅 이력과 최근 뉴스를 살펴보며 이번 방문에서 논의할 주제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제안할 수 있는 영업기회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사전에 확인해야 할 위험요인을 빠르게 파악하고자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이렇게 정리한 내용은 방문 전에 검토하거나 동료와 공유할 수 있는 문서 형태로 활용하기를 기대하고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기업은 고객사 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방문일지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관련 뉴스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매출정보를 각각의 엑셀 데이터셋으로 제공할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자료들은 매일 자동으로 생성된다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따라서 담당자가 업무를 시작할 때마다 파일을 일일이 찾아 취합하지 않아도 최신 자료를 활용할 수 있는 체계가 필요하다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기업의 영업기획부서는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를 활용하여 고객사별 정보를 종합적으로 분석하고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 목적에 맞는 영업 판단과 상담 준비를 지원하는 체계를 마련하고자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이를 통해 방문 준비에 드는 시간을 줄이고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담당자들이 고객과의 상담 및 제안 활동에 더 많은 시간을 사용할 수 있도록 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기업은 위의 상황을 고려하여 다음의 목적을 달성하고자 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고객사별 기본 현황과 거래 실적을 통합적으로 파악하고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 준비에 필요한 정보 수집 및 정리 시간을 줄인다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고객사의 구매 현황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미팅 이력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최근 이슈 및 산업 동향을 종합하여 고객사에 적합한 영업기회를 발굴한다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고객의 요청사항과 거래에 영향을 줄 수 있는 위험요인을 사전에 파악하고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방문 시 확인할 사항을 준비한다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고객사별 상황에 맞는 상담 주제와 제안 방향을 마련하여 영업활동의 효과를 높인다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최신 정보를 바탕으로 방문 준비 자료를 일관된 문서로 정리하고 공유하여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담당자 간 고객 이해 수준의 차이를 줄인다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259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A9C6-82CF-29E3-BAB3-B366473A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138FEB-441A-2DC6-9DD1-13162AE74411}"/>
              </a:ext>
            </a:extLst>
          </p:cNvPr>
          <p:cNvSpPr/>
          <p:nvPr/>
        </p:nvSpPr>
        <p:spPr>
          <a:xfrm>
            <a:off x="504824" y="1040036"/>
            <a:ext cx="11387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▶ 데이터셋</a:t>
            </a:r>
            <a:endParaRPr kumimoji="0" lang="ko-KR" altLang="en-US" sz="1600" b="1" i="0" u="none" strike="noStrike" kern="1200" cap="none" spc="0" normalizeH="0" baseline="0" noProof="0" dirty="0">
              <a:ln w="3175">
                <a:solidFill>
                  <a:srgbClr val="56D49C">
                    <a:shade val="1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B92B873-ADD1-CECC-314B-62C5D4BA9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과제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2: </a:t>
            </a:r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영업기회 발굴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Agent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id="{E54CE309-FCAE-CBD4-6B4A-6B97FD8C4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2433EC-D1E5-1A32-D32C-FE30DAB9EC4F}"/>
              </a:ext>
            </a:extLst>
          </p:cNvPr>
          <p:cNvGraphicFramePr>
            <a:graphicFrameLocks noGrp="1"/>
          </p:cNvGraphicFramePr>
          <p:nvPr/>
        </p:nvGraphicFramePr>
        <p:xfrm>
          <a:off x="371473" y="1772816"/>
          <a:ext cx="11520489" cy="648000"/>
        </p:xfrm>
        <a:graphic>
          <a:graphicData uri="http://schemas.openxmlformats.org/drawingml/2006/table">
            <a:tbl>
              <a:tblPr/>
              <a:tblGrid>
                <a:gridCol w="903568">
                  <a:extLst>
                    <a:ext uri="{9D8B030D-6E8A-4147-A177-3AD203B41FA5}">
                      <a16:colId xmlns:a16="http://schemas.microsoft.com/office/drawing/2014/main" val="3470390629"/>
                    </a:ext>
                  </a:extLst>
                </a:gridCol>
                <a:gridCol w="417031">
                  <a:extLst>
                    <a:ext uri="{9D8B030D-6E8A-4147-A177-3AD203B41FA5}">
                      <a16:colId xmlns:a16="http://schemas.microsoft.com/office/drawing/2014/main" val="4283910129"/>
                    </a:ext>
                  </a:extLst>
                </a:gridCol>
                <a:gridCol w="625547">
                  <a:extLst>
                    <a:ext uri="{9D8B030D-6E8A-4147-A177-3AD203B41FA5}">
                      <a16:colId xmlns:a16="http://schemas.microsoft.com/office/drawing/2014/main" val="1593635001"/>
                    </a:ext>
                  </a:extLst>
                </a:gridCol>
                <a:gridCol w="625547">
                  <a:extLst>
                    <a:ext uri="{9D8B030D-6E8A-4147-A177-3AD203B41FA5}">
                      <a16:colId xmlns:a16="http://schemas.microsoft.com/office/drawing/2014/main" val="59799036"/>
                    </a:ext>
                  </a:extLst>
                </a:gridCol>
                <a:gridCol w="938320">
                  <a:extLst>
                    <a:ext uri="{9D8B030D-6E8A-4147-A177-3AD203B41FA5}">
                      <a16:colId xmlns:a16="http://schemas.microsoft.com/office/drawing/2014/main" val="861629836"/>
                    </a:ext>
                  </a:extLst>
                </a:gridCol>
                <a:gridCol w="851439">
                  <a:extLst>
                    <a:ext uri="{9D8B030D-6E8A-4147-A177-3AD203B41FA5}">
                      <a16:colId xmlns:a16="http://schemas.microsoft.com/office/drawing/2014/main" val="3156319316"/>
                    </a:ext>
                  </a:extLst>
                </a:gridCol>
                <a:gridCol w="1563867">
                  <a:extLst>
                    <a:ext uri="{9D8B030D-6E8A-4147-A177-3AD203B41FA5}">
                      <a16:colId xmlns:a16="http://schemas.microsoft.com/office/drawing/2014/main" val="2874581704"/>
                    </a:ext>
                  </a:extLst>
                </a:gridCol>
                <a:gridCol w="2085156">
                  <a:extLst>
                    <a:ext uri="{9D8B030D-6E8A-4147-A177-3AD203B41FA5}">
                      <a16:colId xmlns:a16="http://schemas.microsoft.com/office/drawing/2014/main" val="1622310740"/>
                    </a:ext>
                  </a:extLst>
                </a:gridCol>
                <a:gridCol w="521289">
                  <a:extLst>
                    <a:ext uri="{9D8B030D-6E8A-4147-A177-3AD203B41FA5}">
                      <a16:colId xmlns:a16="http://schemas.microsoft.com/office/drawing/2014/main" val="986299259"/>
                    </a:ext>
                  </a:extLst>
                </a:gridCol>
                <a:gridCol w="1303223">
                  <a:extLst>
                    <a:ext uri="{9D8B030D-6E8A-4147-A177-3AD203B41FA5}">
                      <a16:colId xmlns:a16="http://schemas.microsoft.com/office/drawing/2014/main" val="3586830263"/>
                    </a:ext>
                  </a:extLst>
                </a:gridCol>
                <a:gridCol w="781934">
                  <a:extLst>
                    <a:ext uri="{9D8B030D-6E8A-4147-A177-3AD203B41FA5}">
                      <a16:colId xmlns:a16="http://schemas.microsoft.com/office/drawing/2014/main" val="856123455"/>
                    </a:ext>
                  </a:extLst>
                </a:gridCol>
                <a:gridCol w="451784">
                  <a:extLst>
                    <a:ext uri="{9D8B030D-6E8A-4147-A177-3AD203B41FA5}">
                      <a16:colId xmlns:a16="http://schemas.microsoft.com/office/drawing/2014/main" val="802118742"/>
                    </a:ext>
                  </a:extLst>
                </a:gridCol>
                <a:gridCol w="451784">
                  <a:extLst>
                    <a:ext uri="{9D8B030D-6E8A-4147-A177-3AD203B41FA5}">
                      <a16:colId xmlns:a16="http://schemas.microsoft.com/office/drawing/2014/main" val="333408878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창립년도</a:t>
                      </a:r>
                      <a:endParaRPr lang="ko-KR" sz="8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대표이사명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종업원수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전년도 매출액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전년도 영업이익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주요생산품목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신용등급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 구매 철강재명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 매출액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위도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경도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768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한빛건설산업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1998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김태훈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1,250명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8,400억원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철골 구조물, 빌딩 시공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경기도 화성시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동탄산단로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22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H형강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열연강판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37.1935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127.0943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89405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미래플랜트건설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2005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이성우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860명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5,900억원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410억원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산업플랜트, 배관 구조물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울산광역시 남구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산업로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118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강관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132억원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35.5384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129.3386</a:t>
                      </a:r>
                    </a:p>
                  </a:txBody>
                  <a:tcPr marL="4344" marR="4344" marT="43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0502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1E511DD-B96A-B6CD-B749-B83C13615586}"/>
              </a:ext>
            </a:extLst>
          </p:cNvPr>
          <p:cNvSpPr/>
          <p:nvPr/>
        </p:nvSpPr>
        <p:spPr>
          <a:xfrm>
            <a:off x="623392" y="1484784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customer_info.xlsx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0A0A5E-1740-86D9-9E25-455B0C7654BC}"/>
              </a:ext>
            </a:extLst>
          </p:cNvPr>
          <p:cNvSpPr/>
          <p:nvPr/>
        </p:nvSpPr>
        <p:spPr>
          <a:xfrm>
            <a:off x="623392" y="2564904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customer_meeting.xlsx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AC1F28C-9D2C-B96D-E35B-55F265D7E608}"/>
              </a:ext>
            </a:extLst>
          </p:cNvPr>
          <p:cNvGraphicFramePr>
            <a:graphicFrameLocks noGrp="1"/>
          </p:cNvGraphicFramePr>
          <p:nvPr/>
        </p:nvGraphicFramePr>
        <p:xfrm>
          <a:off x="371475" y="2888564"/>
          <a:ext cx="11520488" cy="648000"/>
        </p:xfrm>
        <a:graphic>
          <a:graphicData uri="http://schemas.openxmlformats.org/drawingml/2006/table">
            <a:tbl>
              <a:tblPr/>
              <a:tblGrid>
                <a:gridCol w="948746">
                  <a:extLst>
                    <a:ext uri="{9D8B030D-6E8A-4147-A177-3AD203B41FA5}">
                      <a16:colId xmlns:a16="http://schemas.microsoft.com/office/drawing/2014/main" val="1270885124"/>
                    </a:ext>
                  </a:extLst>
                </a:gridCol>
                <a:gridCol w="1355352">
                  <a:extLst>
                    <a:ext uri="{9D8B030D-6E8A-4147-A177-3AD203B41FA5}">
                      <a16:colId xmlns:a16="http://schemas.microsoft.com/office/drawing/2014/main" val="3990481221"/>
                    </a:ext>
                  </a:extLst>
                </a:gridCol>
                <a:gridCol w="948746">
                  <a:extLst>
                    <a:ext uri="{9D8B030D-6E8A-4147-A177-3AD203B41FA5}">
                      <a16:colId xmlns:a16="http://schemas.microsoft.com/office/drawing/2014/main" val="3545740490"/>
                    </a:ext>
                  </a:extLst>
                </a:gridCol>
                <a:gridCol w="1084281">
                  <a:extLst>
                    <a:ext uri="{9D8B030D-6E8A-4147-A177-3AD203B41FA5}">
                      <a16:colId xmlns:a16="http://schemas.microsoft.com/office/drawing/2014/main" val="1533186479"/>
                    </a:ext>
                  </a:extLst>
                </a:gridCol>
                <a:gridCol w="3252844">
                  <a:extLst>
                    <a:ext uri="{9D8B030D-6E8A-4147-A177-3AD203B41FA5}">
                      <a16:colId xmlns:a16="http://schemas.microsoft.com/office/drawing/2014/main" val="2346991506"/>
                    </a:ext>
                  </a:extLst>
                </a:gridCol>
                <a:gridCol w="3930519">
                  <a:extLst>
                    <a:ext uri="{9D8B030D-6E8A-4147-A177-3AD203B41FA5}">
                      <a16:colId xmlns:a16="http://schemas.microsoft.com/office/drawing/2014/main" val="196352153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관리직원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고객사담당자명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 주요이슈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요청사항</a:t>
                      </a:r>
                    </a:p>
                  </a:txBody>
                  <a:tcPr marL="5647" marR="5647" marT="56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1360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2021-02-13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권도윤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경쟁사 견적 제시로 가격 경쟁력 확보 필요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 시험성적서와 품질보증 자료를 메일로 송부해 달라고 요청함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1453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2021-05-19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장민규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고강도 강재 적용 가능성 검토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강종 적용 가능성과 기술자료 제공을 요청함</a:t>
                      </a:r>
                    </a:p>
                  </a:txBody>
                  <a:tcPr marL="5647" marR="5647" marT="5647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814457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A193D8D1-155E-EBCB-3249-6D62255EA623}"/>
              </a:ext>
            </a:extLst>
          </p:cNvPr>
          <p:cNvSpPr/>
          <p:nvPr/>
        </p:nvSpPr>
        <p:spPr>
          <a:xfrm>
            <a:off x="623392" y="3645024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customer_news.xlsx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1713D60-13E4-EF7A-0739-E77B808B373A}"/>
              </a:ext>
            </a:extLst>
          </p:cNvPr>
          <p:cNvGraphicFramePr>
            <a:graphicFrameLocks noGrp="1"/>
          </p:cNvGraphicFramePr>
          <p:nvPr/>
        </p:nvGraphicFramePr>
        <p:xfrm>
          <a:off x="371475" y="3943940"/>
          <a:ext cx="11520488" cy="1040106"/>
        </p:xfrm>
        <a:graphic>
          <a:graphicData uri="http://schemas.openxmlformats.org/drawingml/2006/table">
            <a:tbl>
              <a:tblPr/>
              <a:tblGrid>
                <a:gridCol w="713659">
                  <a:extLst>
                    <a:ext uri="{9D8B030D-6E8A-4147-A177-3AD203B41FA5}">
                      <a16:colId xmlns:a16="http://schemas.microsoft.com/office/drawing/2014/main" val="3738732134"/>
                    </a:ext>
                  </a:extLst>
                </a:gridCol>
                <a:gridCol w="611707">
                  <a:extLst>
                    <a:ext uri="{9D8B030D-6E8A-4147-A177-3AD203B41FA5}">
                      <a16:colId xmlns:a16="http://schemas.microsoft.com/office/drawing/2014/main" val="1291967532"/>
                    </a:ext>
                  </a:extLst>
                </a:gridCol>
                <a:gridCol w="1019512">
                  <a:extLst>
                    <a:ext uri="{9D8B030D-6E8A-4147-A177-3AD203B41FA5}">
                      <a16:colId xmlns:a16="http://schemas.microsoft.com/office/drawing/2014/main" val="2037444924"/>
                    </a:ext>
                  </a:extLst>
                </a:gridCol>
                <a:gridCol w="4332927">
                  <a:extLst>
                    <a:ext uri="{9D8B030D-6E8A-4147-A177-3AD203B41FA5}">
                      <a16:colId xmlns:a16="http://schemas.microsoft.com/office/drawing/2014/main" val="303491479"/>
                    </a:ext>
                  </a:extLst>
                </a:gridCol>
                <a:gridCol w="4842683">
                  <a:extLst>
                    <a:ext uri="{9D8B030D-6E8A-4147-A177-3AD203B41FA5}">
                      <a16:colId xmlns:a16="http://schemas.microsoft.com/office/drawing/2014/main" val="156837336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뉴스 소스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고객사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고객사에 미치는 영향</a:t>
                      </a:r>
                    </a:p>
                  </a:txBody>
                  <a:tcPr marL="4248" marR="4248" marT="42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871775"/>
                  </a:ext>
                </a:extLst>
              </a:tr>
              <a:tr h="41205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2025-01-07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블로그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대성인프라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건설 현장 안전 기준 강화 정책이 발표되면서 구조용 철강재의 품질 인증 및 시험성적서 요구 수준이 높아지고 있음. 일부 발주처는 품질 이력 관리 시스템 구축 여부까지 평가 항목에 반영하고 있음.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고객사에서 품질 인증자료 및 시험성적서 제출 요청이 증가할 가능성이 있음. 품질 안정성과 추적관리 체계를 강조한 대응 전략이 필요함. 대형 공공 인프라 프로젝트 참여 가능성을 고려하여 중장기 공급 물량 협의가 중요할 수 있음.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54899"/>
                  </a:ext>
                </a:extLst>
              </a:tr>
              <a:tr h="41205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2025-01-10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네이버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미래플랜트건설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 및 데이터센터 신규 착공 계획이 수도권과 충청권 중심으로 확대되고 있음. 특히 AI 데이터센터 투자 증가로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고하중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구조용 철강재 수요가 증가할 것으로 전망됨.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H형강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강관 등의 신규 수요 확대 가능성이 높음. 고객사와의 미팅 시 데이터센터용 고강도 강재 적용 사례 및 안정적 공급 능력을 강조할 필요가 있음.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플랜트·산업시설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중심의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강관 수요 확대 가능성을 선제적으로 검토할 필요가 있음.</a:t>
                      </a:r>
                    </a:p>
                  </a:txBody>
                  <a:tcPr marL="4248" marR="4248" marT="424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359639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D6BE14-3557-394D-43EE-4B8D5A8B1C47}"/>
              </a:ext>
            </a:extLst>
          </p:cNvPr>
          <p:cNvSpPr/>
          <p:nvPr/>
        </p:nvSpPr>
        <p:spPr>
          <a:xfrm>
            <a:off x="623392" y="5028447"/>
            <a:ext cx="2561222" cy="292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customer_sales.xlsx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598408C-9AB5-D4B0-3EF3-F888963E11C7}"/>
              </a:ext>
            </a:extLst>
          </p:cNvPr>
          <p:cNvGraphicFramePr>
            <a:graphicFrameLocks noGrp="1"/>
          </p:cNvGraphicFramePr>
          <p:nvPr/>
        </p:nvGraphicFramePr>
        <p:xfrm>
          <a:off x="371471" y="5373712"/>
          <a:ext cx="11520488" cy="863600"/>
        </p:xfrm>
        <a:graphic>
          <a:graphicData uri="http://schemas.openxmlformats.org/drawingml/2006/table">
            <a:tbl>
              <a:tblPr/>
              <a:tblGrid>
                <a:gridCol w="1645784">
                  <a:extLst>
                    <a:ext uri="{9D8B030D-6E8A-4147-A177-3AD203B41FA5}">
                      <a16:colId xmlns:a16="http://schemas.microsoft.com/office/drawing/2014/main" val="3069785102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val="1147763255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val="1049657953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val="3836435192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val="2116245097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val="2644340048"/>
                    </a:ext>
                  </a:extLst>
                </a:gridCol>
                <a:gridCol w="1645784">
                  <a:extLst>
                    <a:ext uri="{9D8B030D-6E8A-4147-A177-3AD203B41FA5}">
                      <a16:colId xmlns:a16="http://schemas.microsoft.com/office/drawing/2014/main" val="426016792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납품일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구매량</a:t>
                      </a: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(톤)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구매액(천원)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사원명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5076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2021-02-11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ST-PL-003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196,142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84575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2021-09-19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H형강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ST-HB-001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474.9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548,391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5048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2021-11-22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광명토건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전기아연도금강판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ST-EG-008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332,524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오지훈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851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0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F459-719A-BAFA-3663-8F36EA01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4A9F11-1EB6-358B-6CD9-E8970C24B07C}"/>
              </a:ext>
            </a:extLst>
          </p:cNvPr>
          <p:cNvSpPr/>
          <p:nvPr/>
        </p:nvSpPr>
        <p:spPr>
          <a:xfrm>
            <a:off x="504824" y="1040036"/>
            <a:ext cx="11387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▶ 아웃풋 이미지</a:t>
            </a:r>
            <a:endParaRPr kumimoji="0" lang="ko-KR" altLang="en-US" sz="1600" b="1" i="0" u="none" strike="noStrike" kern="1200" cap="none" spc="0" normalizeH="0" baseline="0" noProof="0" dirty="0">
              <a:ln w="3175">
                <a:solidFill>
                  <a:srgbClr val="56D49C">
                    <a:shade val="1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7B51D8F-0820-C90E-74D4-B006D0B9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과제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2: </a:t>
            </a:r>
            <a:r>
              <a:rPr lang="ko-KR" altLang="en-US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영업기회 발굴 </a:t>
            </a:r>
            <a:r>
              <a:rPr lang="en-US" altLang="ko-KR" sz="3200" b="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Agent</a:t>
            </a:r>
            <a:endParaRPr lang="en-US" altLang="ko-KR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id="{14BA525B-BA35-2A5C-4DA1-DE752638B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-15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A740243-2905-ADE9-7AE7-03A6EB3C5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533144"/>
            <a:ext cx="10441160" cy="49921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1288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371">
      <a:dk1>
        <a:sysClr val="windowText" lastClr="000000"/>
      </a:dk1>
      <a:lt1>
        <a:sysClr val="window" lastClr="FFFFFF"/>
      </a:lt1>
      <a:dk2>
        <a:srgbClr val="31484E"/>
      </a:dk2>
      <a:lt2>
        <a:srgbClr val="E5E9F5"/>
      </a:lt2>
      <a:accent1>
        <a:srgbClr val="56D49C"/>
      </a:accent1>
      <a:accent2>
        <a:srgbClr val="575A6B"/>
      </a:accent2>
      <a:accent3>
        <a:srgbClr val="57B5D3"/>
      </a:accent3>
      <a:accent4>
        <a:srgbClr val="D85295"/>
      </a:accent4>
      <a:accent5>
        <a:srgbClr val="81D05A"/>
      </a:accent5>
      <a:accent6>
        <a:srgbClr val="5A92D0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841</Words>
  <Application>Microsoft Office PowerPoint</Application>
  <PresentationFormat>와이드스크린</PresentationFormat>
  <Paragraphs>129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Arial</vt:lpstr>
      <vt:lpstr>HY견고딕</vt:lpstr>
      <vt:lpstr>Wingdings</vt:lpstr>
      <vt:lpstr>나눔스퀘어</vt:lpstr>
      <vt:lpstr>나눔스퀘어 Bold</vt:lpstr>
      <vt:lpstr>나눔스퀘어 ExtraBold</vt:lpstr>
      <vt:lpstr>맑은 고딕</vt:lpstr>
      <vt:lpstr>Office 테마</vt:lpstr>
      <vt:lpstr>과제 2: 영업기회 발굴 Agent</vt:lpstr>
      <vt:lpstr>과제 2: 영업기회 발굴 Agent</vt:lpstr>
      <vt:lpstr>과제 2: 영업기회 발굴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훈 백</dc:creator>
  <cp:lastModifiedBy>유 성현</cp:lastModifiedBy>
  <cp:revision>10</cp:revision>
  <dcterms:created xsi:type="dcterms:W3CDTF">2026-06-09T00:26:02Z</dcterms:created>
  <dcterms:modified xsi:type="dcterms:W3CDTF">2026-09-22T20:27:53Z</dcterms:modified>
</cp:coreProperties>
</file>