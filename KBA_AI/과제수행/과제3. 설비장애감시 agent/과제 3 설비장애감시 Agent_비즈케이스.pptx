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5"/>
  </p:notesMasterIdLst>
  <p:sldIdLst>
    <p:sldId id="590" r:id="rId2"/>
    <p:sldId id="596" r:id="rId3"/>
    <p:sldId id="592" r:id="rId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89" d="100"/>
          <a:sy n="89" d="100"/>
        </p:scale>
        <p:origin x="393"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32DD2D-E7B9-4E8B-A177-739A266508B3}" type="datetimeFigureOut">
              <a:rPr lang="ko-KR" altLang="en-US" smtClean="0"/>
              <a:t>2026-09-23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B979E-1388-4835-8479-85E89DB6C9CC}" type="slidenum">
              <a:rPr lang="ko-KR" altLang="en-US" smtClean="0"/>
              <a:t>‹#›</a:t>
            </a:fld>
            <a:endParaRPr lang="ko-KR" altLang="en-US"/>
          </a:p>
        </p:txBody>
      </p:sp>
    </p:spTree>
    <p:extLst>
      <p:ext uri="{BB962C8B-B14F-4D97-AF65-F5344CB8AC3E}">
        <p14:creationId xmlns:p14="http://schemas.microsoft.com/office/powerpoint/2010/main" val="311913467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92EB-9700-2493-1DAD-F65743C9D4D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6C4AC3A-4DC3-922C-2228-69053F7BEF3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2A60D63-F763-4CF7-4665-D614FB5DBEC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416CE8B-027C-E2FE-29F6-F727EAA7A9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51814-3B91-4036-94D2-3977634EE214}" type="slidenum">
              <a:rPr kumimoji="0" lang="en-US" altLang="ko-KR" sz="1200" b="0" i="0" u="none" strike="noStrike" kern="1200" cap="none" spc="0" normalizeH="0" baseline="0" noProof="0" smtClean="0">
                <a:ln>
                  <a:noFill/>
                </a:ln>
                <a:solidFill>
                  <a:prstClr val="black"/>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464114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1EF10-E002-6F69-50BA-796C4B1D24D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9A53C59-9F73-145D-3F2A-73D73DBED7B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2003FB8-3156-2D38-48E7-56FBA2552A4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82576F8-B88B-BFA9-7368-CD1E5B0BB9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51814-3B91-4036-94D2-3977634EE214}" type="slidenum">
              <a:rPr kumimoji="0" lang="en-US" altLang="ko-KR" sz="1200" b="0" i="0" u="none" strike="noStrike" kern="1200" cap="none" spc="0" normalizeH="0" baseline="0" noProof="0" smtClean="0">
                <a:ln>
                  <a:noFill/>
                </a:ln>
                <a:solidFill>
                  <a:prstClr val="black"/>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35986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61BF5-0C27-E6C0-8B91-8566841A45F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7481378-41A3-61F4-E75A-224C8C50DC5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5153088-CDB2-D037-3079-04A549DBB3AD}"/>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057F4DB-1CC7-DDEF-0341-AE87C47FD7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51814-3B91-4036-94D2-3977634EE214}" type="slidenum">
              <a:rPr kumimoji="0" lang="en-US" altLang="ko-KR" sz="1200" b="0" i="0" u="none" strike="noStrike" kern="1200" cap="none" spc="0" normalizeH="0" baseline="0" noProof="0" smtClean="0">
                <a:ln>
                  <a:noFill/>
                </a:ln>
                <a:solidFill>
                  <a:prstClr val="black"/>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ko-KR" altLang="en-US" sz="12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4269977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946382-D411-C520-84A0-F3A032D134EB}"/>
              </a:ext>
            </a:extLst>
          </p:cNvPr>
          <p:cNvSpPr>
            <a:spLocks noGrp="1"/>
          </p:cNvSpPr>
          <p:nvPr>
            <p:ph type="ctrTitle"/>
          </p:nvPr>
        </p:nvSpPr>
        <p:spPr>
          <a:xfrm>
            <a:off x="1524000" y="1805861"/>
            <a:ext cx="8782050" cy="1323439"/>
          </a:xfrm>
        </p:spPr>
        <p:txBody>
          <a:bodyPr vert="horz" wrap="square" lIns="0" tIns="0" rIns="0" bIns="0" rtlCol="0" anchor="ctr">
            <a:noAutofit/>
          </a:bodyPr>
          <a:lstStyle>
            <a:lvl1pPr algn="l">
              <a:defRPr lang="ko-KR" altLang="en-US" sz="4000" kern="0" spc="-75">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indent="0">
              <a:lnSpc>
                <a:spcPct val="100000"/>
              </a:lnSpc>
            </a:pPr>
            <a:r>
              <a:rPr lang="ko-KR" altLang="en-US" dirty="0"/>
              <a:t>마스터 제목 스타일 편집</a:t>
            </a:r>
          </a:p>
        </p:txBody>
      </p:sp>
    </p:spTree>
    <p:extLst>
      <p:ext uri="{BB962C8B-B14F-4D97-AF65-F5344CB8AC3E}">
        <p14:creationId xmlns:p14="http://schemas.microsoft.com/office/powerpoint/2010/main" val="3642623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66151C6A-4A31-6028-D891-892DA2C6E878}"/>
              </a:ext>
            </a:extLst>
          </p:cNvPr>
          <p:cNvPicPr>
            <a:picLocks noChangeAspect="1"/>
          </p:cNvPicPr>
          <p:nvPr userDrawn="1"/>
        </p:nvPicPr>
        <p:blipFill>
          <a:blip r:embed="rId2"/>
          <a:srcRect t="31103"/>
          <a:stretch>
            <a:fillRect/>
          </a:stretch>
        </p:blipFill>
        <p:spPr>
          <a:xfrm>
            <a:off x="0" y="2133600"/>
            <a:ext cx="12192000" cy="4724400"/>
          </a:xfrm>
          <a:prstGeom prst="rect">
            <a:avLst/>
          </a:prstGeom>
        </p:spPr>
      </p:pic>
      <p:sp>
        <p:nvSpPr>
          <p:cNvPr id="9" name="제목 1">
            <a:extLst>
              <a:ext uri="{FF2B5EF4-FFF2-40B4-BE49-F238E27FC236}">
                <a16:creationId xmlns:a16="http://schemas.microsoft.com/office/drawing/2014/main" id="{EC00DEF6-C823-F463-B07A-6850A29D9EB0}"/>
              </a:ext>
            </a:extLst>
          </p:cNvPr>
          <p:cNvSpPr>
            <a:spLocks noGrp="1"/>
          </p:cNvSpPr>
          <p:nvPr>
            <p:ph type="ctrTitle"/>
          </p:nvPr>
        </p:nvSpPr>
        <p:spPr>
          <a:xfrm>
            <a:off x="1704975" y="425794"/>
            <a:ext cx="8782050" cy="1323439"/>
          </a:xfrm>
        </p:spPr>
        <p:txBody>
          <a:bodyPr vert="horz" wrap="square" lIns="0" tIns="0" rIns="0" bIns="0" rtlCol="0" anchor="ctr">
            <a:noAutofit/>
          </a:bodyPr>
          <a:lstStyle>
            <a:lvl1pPr algn="ctr">
              <a:defRPr lang="ko-KR" altLang="en-US" sz="4400" kern="0" spc="-75">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indent="0">
              <a:lnSpc>
                <a:spcPct val="100000"/>
              </a:lnSpc>
            </a:pPr>
            <a:r>
              <a:rPr lang="ko-KR" altLang="en-US" dirty="0"/>
              <a:t>마스터 제목 스타일 편집</a:t>
            </a:r>
          </a:p>
        </p:txBody>
      </p:sp>
    </p:spTree>
    <p:extLst>
      <p:ext uri="{BB962C8B-B14F-4D97-AF65-F5344CB8AC3E}">
        <p14:creationId xmlns:p14="http://schemas.microsoft.com/office/powerpoint/2010/main" val="3283732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Tree>
    <p:extLst>
      <p:ext uri="{BB962C8B-B14F-4D97-AF65-F5344CB8AC3E}">
        <p14:creationId xmlns:p14="http://schemas.microsoft.com/office/powerpoint/2010/main" val="30804766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8" name="TextBox 7">
            <a:extLst>
              <a:ext uri="{FF2B5EF4-FFF2-40B4-BE49-F238E27FC236}">
                <a16:creationId xmlns:a16="http://schemas.microsoft.com/office/drawing/2014/main" id="{5409B65E-9738-1B6A-2AF5-1B0B23A90293}"/>
              </a:ext>
            </a:extLst>
          </p:cNvPr>
          <p:cNvSpPr txBox="1"/>
          <p:nvPr userDrawn="1"/>
        </p:nvSpPr>
        <p:spPr>
          <a:xfrm>
            <a:off x="10657606" y="135924"/>
            <a:ext cx="1534394"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 AI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개념 및</a:t>
            </a: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기술 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7552426C-BEE3-A46E-36B9-C445D9348E36}"/>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3589784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121C7321-DF29-1109-848C-A21A0DC7D31E}"/>
              </a:ext>
            </a:extLst>
          </p:cNvPr>
          <p:cNvSpPr txBox="1"/>
          <p:nvPr userDrawn="1"/>
        </p:nvSpPr>
        <p:spPr>
          <a:xfrm>
            <a:off x="11417429" y="135924"/>
            <a:ext cx="774571"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2.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웹 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A3E2C145-D797-52B7-00DE-0445B9EBDAEF}"/>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8834254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DEA01D1C-6451-4B0B-BA7E-D6E2A2EDAB82}"/>
              </a:ext>
            </a:extLst>
          </p:cNvPr>
          <p:cNvSpPr txBox="1"/>
          <p:nvPr userDrawn="1"/>
        </p:nvSpPr>
        <p:spPr>
          <a:xfrm>
            <a:off x="10587072" y="135924"/>
            <a:ext cx="160492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3.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환경 구축</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9B2C8184-B79C-57CC-6EA9-2F2C217A53BA}"/>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2380838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DEA01D1C-6451-4B0B-BA7E-D6E2A2EDAB82}"/>
              </a:ext>
            </a:extLst>
          </p:cNvPr>
          <p:cNvSpPr txBox="1"/>
          <p:nvPr userDrawn="1"/>
        </p:nvSpPr>
        <p:spPr>
          <a:xfrm>
            <a:off x="11151330" y="135924"/>
            <a:ext cx="1040670"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4.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파이썬 기초</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9B2C8184-B79C-57CC-6EA9-2F2C217A53BA}"/>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7609473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3452AF80-98E5-00C1-3D29-3B8B2DD8A977}"/>
              </a:ext>
            </a:extLst>
          </p:cNvPr>
          <p:cNvSpPr txBox="1"/>
          <p:nvPr userDrawn="1"/>
        </p:nvSpPr>
        <p:spPr>
          <a:xfrm>
            <a:off x="10421964" y="135924"/>
            <a:ext cx="1770036"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5.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기반 앱 개발</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A6A91D89-397A-E068-6BE5-BD9B20D54C5E}"/>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1333964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C81419ED-A9B4-9A42-11D4-4FB0E5EAA280}"/>
              </a:ext>
            </a:extLst>
          </p:cNvPr>
          <p:cNvSpPr txBox="1"/>
          <p:nvPr userDrawn="1"/>
        </p:nvSpPr>
        <p:spPr>
          <a:xfrm>
            <a:off x="10421964" y="135924"/>
            <a:ext cx="1770036"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6.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기반 웹 개발</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1D72AB4E-5251-9CAB-E1AF-88A45EB47B38}"/>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259607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582EA657-5168-5360-B9A4-7EDE91C6AE11}"/>
              </a:ext>
            </a:extLst>
          </p:cNvPr>
          <p:cNvSpPr txBox="1"/>
          <p:nvPr userDrawn="1"/>
        </p:nvSpPr>
        <p:spPr>
          <a:xfrm>
            <a:off x="10587072" y="135924"/>
            <a:ext cx="160492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7.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스킬 활용</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FC7CBEF7-0482-7E1B-44B5-2B05B029F355}"/>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3911629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582EA657-5168-5360-B9A4-7EDE91C6AE11}"/>
              </a:ext>
            </a:extLst>
          </p:cNvPr>
          <p:cNvSpPr txBox="1"/>
          <p:nvPr userDrawn="1"/>
        </p:nvSpPr>
        <p:spPr>
          <a:xfrm>
            <a:off x="10845156" y="135924"/>
            <a:ext cx="1346844"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8. LangChain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803FE19F-3A69-62BD-E546-7C8F3141C0FB}"/>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3501878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8" name="TextBox 7">
            <a:extLst>
              <a:ext uri="{FF2B5EF4-FFF2-40B4-BE49-F238E27FC236}">
                <a16:creationId xmlns:a16="http://schemas.microsoft.com/office/drawing/2014/main" id="{C3731146-72F7-AC4E-9825-F03D5E71BDC2}"/>
              </a:ext>
            </a:extLst>
          </p:cNvPr>
          <p:cNvSpPr txBox="1"/>
          <p:nvPr userDrawn="1"/>
        </p:nvSpPr>
        <p:spPr>
          <a:xfrm>
            <a:off x="10999878" y="135924"/>
            <a:ext cx="1192122"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9. RAG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코드리뷰</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40AB63B1-ECED-A82E-0791-A3F087C35E83}"/>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7987008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177812" y="135924"/>
            <a:ext cx="101418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10. RAG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구현</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3884709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093558" y="135924"/>
            <a:ext cx="1098442"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11. Agent</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개요</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39990700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030143" y="135924"/>
            <a:ext cx="1161857"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12. LangGraph</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9448424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0397919" y="135924"/>
            <a:ext cx="1794081"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13. </a:t>
            </a:r>
            <a:r>
              <a:rPr lang="ko-KR" altLang="en-US" sz="1200" b="1" i="0" u="none" strike="noStrike" spc="-50" baseline="0" dirty="0" err="1">
                <a:solidFill>
                  <a:srgbClr val="00143F"/>
                </a:solidFill>
                <a:effectLst/>
                <a:latin typeface="나눔스퀘어 Bold" panose="020B0600000101010101" pitchFamily="50" charset="-127"/>
                <a:ea typeface="나눔스퀘어 Bold" panose="020B0600000101010101" pitchFamily="50" charset="-127"/>
              </a:rPr>
              <a:t>하네스엔지니어링</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 개요</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4894282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228275" y="135924"/>
            <a:ext cx="963725"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14.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과제수행</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42014477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57761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공백">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noProof="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68794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0D05D0EC-9124-8E2B-B62F-CECEFC6651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00EE6CFE-3345-681E-87C9-130DF4CC9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45EFB1F0-DFE0-429D-C395-0B2ECFFD3B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endParaRPr lang="ko-KR" altLang="en-US" dirty="0"/>
          </a:p>
        </p:txBody>
      </p:sp>
      <p:sp>
        <p:nvSpPr>
          <p:cNvPr id="5" name="바닥글 개체 틀 4">
            <a:extLst>
              <a:ext uri="{FF2B5EF4-FFF2-40B4-BE49-F238E27FC236}">
                <a16:creationId xmlns:a16="http://schemas.microsoft.com/office/drawing/2014/main" id="{BABDC94E-080A-AD3E-B6F2-2EF5E6CDB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endParaRPr lang="ko-KR" altLang="en-US" dirty="0"/>
          </a:p>
        </p:txBody>
      </p:sp>
      <p:sp>
        <p:nvSpPr>
          <p:cNvPr id="6" name="슬라이드 번호 개체 틀 5">
            <a:extLst>
              <a:ext uri="{FF2B5EF4-FFF2-40B4-BE49-F238E27FC236}">
                <a16:creationId xmlns:a16="http://schemas.microsoft.com/office/drawing/2014/main" id="{ADAA49E1-BF42-0DF3-7D7D-5C9D4A9C9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fld id="{9B39AC2E-0BC5-4C4B-9DA4-EF26BB28E670}" type="slidenum">
              <a:rPr lang="ko-KR" altLang="en-US" smtClean="0"/>
              <a:pPr/>
              <a:t>‹#›</a:t>
            </a:fld>
            <a:endParaRPr lang="ko-KR" altLang="en-US" dirty="0"/>
          </a:p>
        </p:txBody>
      </p:sp>
    </p:spTree>
    <p:extLst>
      <p:ext uri="{BB962C8B-B14F-4D97-AF65-F5344CB8AC3E}">
        <p14:creationId xmlns:p14="http://schemas.microsoft.com/office/powerpoint/2010/main" val="150269380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Lst>
  <p:hf hdr="0" ftr="0" dt="0"/>
  <p:txStyles>
    <p:titleStyle>
      <a:lvl1pPr algn="l" defTabSz="914400" rtl="0" eaLnBrk="1" latinLnBrk="1" hangingPunct="1">
        <a:lnSpc>
          <a:spcPct val="90000"/>
        </a:lnSpc>
        <a:spcBef>
          <a:spcPct val="0"/>
        </a:spcBef>
        <a:buNone/>
        <a:defRPr sz="4400" kern="1200">
          <a:solidFill>
            <a:schemeClr val="tx1"/>
          </a:solidFill>
          <a:latin typeface="나눔스퀘어 Bold" panose="020B0600000101010101" pitchFamily="50" charset="-127"/>
          <a:ea typeface="나눔스퀘어 Bold" panose="020B060000010101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스퀘어 Bold" panose="020B0600000101010101" pitchFamily="50" charset="-127"/>
          <a:ea typeface="나눔스퀘어 Bold"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나눔스퀘어 Bold" panose="020B0600000101010101" pitchFamily="50" charset="-127"/>
          <a:ea typeface="나눔스퀘어 Bold" panose="020B0600000101010101" pitchFamily="50"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나눔스퀘어 Bold" panose="020B0600000101010101" pitchFamily="50" charset="-127"/>
          <a:ea typeface="나눔스퀘어 Bold" panose="020B0600000101010101" pitchFamily="50"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나눔스퀘어 Bold" panose="020B0600000101010101" pitchFamily="50" charset="-127"/>
          <a:ea typeface="나눔스퀘어 Bold" panose="020B0600000101010101" pitchFamily="50"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나눔스퀘어 Bold" panose="020B0600000101010101" pitchFamily="50" charset="-127"/>
          <a:ea typeface="나눔스퀘어 Bold" panose="020B060000010101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65220-7155-BC9B-8222-F8764607F213}"/>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06463370-FE2D-8401-E5D8-72747E5A9211}"/>
              </a:ext>
            </a:extLst>
          </p:cNvPr>
          <p:cNvSpPr>
            <a:spLocks noGrp="1"/>
          </p:cNvSpPr>
          <p:nvPr>
            <p:ph type="title"/>
          </p:nvPr>
        </p:nvSpPr>
        <p:spPr/>
        <p:txBody>
          <a:bodyPr>
            <a:normAutofit/>
          </a:bodyPr>
          <a:lstStyle/>
          <a:p>
            <a:r>
              <a:rPr lang="ko-KR" altLang="en-US" sz="3200" b="0" dirty="0">
                <a:solidFill>
                  <a:prstClr val="black"/>
                </a:solidFill>
                <a:latin typeface="HY견고딕" panose="02030600000101010101" pitchFamily="18" charset="-127"/>
                <a:ea typeface="HY견고딕" panose="02030600000101010101" pitchFamily="18" charset="-127"/>
                <a:cs typeface="+mn-cs"/>
              </a:rPr>
              <a:t>과제 </a:t>
            </a:r>
            <a:r>
              <a:rPr lang="en-US" altLang="ko-KR" sz="3200" b="0" dirty="0">
                <a:solidFill>
                  <a:prstClr val="black"/>
                </a:solidFill>
                <a:latin typeface="HY견고딕" panose="02030600000101010101" pitchFamily="18" charset="-127"/>
                <a:ea typeface="HY견고딕" panose="02030600000101010101" pitchFamily="18" charset="-127"/>
                <a:cs typeface="+mn-cs"/>
              </a:rPr>
              <a:t>3: </a:t>
            </a:r>
            <a:r>
              <a:rPr lang="ko-KR" altLang="en-US" sz="3200" b="0" dirty="0">
                <a:solidFill>
                  <a:prstClr val="black"/>
                </a:solidFill>
                <a:latin typeface="HY견고딕" panose="02030600000101010101" pitchFamily="18" charset="-127"/>
                <a:ea typeface="HY견고딕" panose="02030600000101010101" pitchFamily="18" charset="-127"/>
                <a:cs typeface="+mn-cs"/>
              </a:rPr>
              <a:t>설비장애감시 </a:t>
            </a:r>
            <a:r>
              <a:rPr lang="en-US" altLang="ko-KR" sz="3200" b="0" dirty="0">
                <a:solidFill>
                  <a:prstClr val="black"/>
                </a:solidFill>
                <a:latin typeface="HY견고딕" panose="02030600000101010101" pitchFamily="18" charset="-127"/>
                <a:ea typeface="HY견고딕" panose="02030600000101010101" pitchFamily="18" charset="-127"/>
                <a:cs typeface="+mn-cs"/>
              </a:rPr>
              <a:t>Agent</a:t>
            </a:r>
            <a:endParaRPr lang="en-US" altLang="ko-KR" sz="1800" dirty="0">
              <a:solidFill>
                <a:srgbClr val="000000"/>
              </a:solidFill>
              <a:latin typeface="HY견고딕" panose="02030600000101010101" pitchFamily="18" charset="-127"/>
              <a:ea typeface="HY견고딕" panose="02030600000101010101" pitchFamily="18" charset="-127"/>
            </a:endParaRPr>
          </a:p>
        </p:txBody>
      </p:sp>
      <p:sp>
        <p:nvSpPr>
          <p:cNvPr id="55" name="슬라이드 번호 개체 틀 2">
            <a:extLst>
              <a:ext uri="{FF2B5EF4-FFF2-40B4-BE49-F238E27FC236}">
                <a16:creationId xmlns:a16="http://schemas.microsoft.com/office/drawing/2014/main" id="{CD347273-6295-39EE-F850-4C4A0FE346C9}"/>
              </a:ext>
            </a:extLst>
          </p:cNvPr>
          <p:cNvSpPr>
            <a:spLocks noGrp="1"/>
          </p:cNvSpPr>
          <p:nvPr>
            <p:ph type="sldNum" sz="quarter" idx="4"/>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n-US" altLang="ko-KR" sz="1200" b="0" i="0" u="none" strike="noStrike" kern="1200" cap="none" spc="-150" normalizeH="0" baseline="0" noProof="0" smtClean="0">
                <a:ln>
                  <a:noFill/>
                </a:ln>
                <a:solidFill>
                  <a:prstClr val="black">
                    <a:tint val="82000"/>
                  </a:prstClr>
                </a:solidFill>
                <a:effectLst/>
                <a:uLnTx/>
                <a:uFillTx/>
                <a:latin typeface="나눔스퀘어" panose="020B0600000101010101" pitchFamily="50" charset="-127"/>
                <a:ea typeface="나눔스퀘어" panose="020B0600000101010101"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150" normalizeH="0" baseline="0" noProof="0" dirty="0">
              <a:ln>
                <a:noFill/>
              </a:ln>
              <a:solidFill>
                <a:prstClr val="black">
                  <a:tint val="82000"/>
                </a:prstClr>
              </a:solidFill>
              <a:effectLst/>
              <a:uLnTx/>
              <a:uFillTx/>
              <a:latin typeface="나눔스퀘어" panose="020B0600000101010101" pitchFamily="50" charset="-127"/>
              <a:ea typeface="나눔스퀘어" panose="020B0600000101010101" pitchFamily="50" charset="-127"/>
              <a:cs typeface="+mn-cs"/>
            </a:endParaRPr>
          </a:p>
        </p:txBody>
      </p:sp>
      <p:sp>
        <p:nvSpPr>
          <p:cNvPr id="7" name="직사각형 6">
            <a:extLst>
              <a:ext uri="{FF2B5EF4-FFF2-40B4-BE49-F238E27FC236}">
                <a16:creationId xmlns:a16="http://schemas.microsoft.com/office/drawing/2014/main" id="{A77BDD2E-72D3-6F7B-4B87-7DD10A8AFDD5}"/>
              </a:ext>
            </a:extLst>
          </p:cNvPr>
          <p:cNvSpPr/>
          <p:nvPr/>
        </p:nvSpPr>
        <p:spPr>
          <a:xfrm>
            <a:off x="287401" y="1029918"/>
            <a:ext cx="11604562" cy="3231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200"/>
              </a:spcAft>
              <a:buClrTx/>
              <a:buSzTx/>
              <a:buFontTx/>
              <a:buNone/>
              <a:tabLst/>
              <a:defRPr/>
            </a:pP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 다음 비즈니스 상황 설명서를 읽고 </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과제 정의서</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PRD, Prompts/Architecture/UI.md</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를 작성하고</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Agent </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시스템을 구현하세요</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a:t>
            </a:r>
            <a:endPar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16" name="TextBox 15">
            <a:extLst>
              <a:ext uri="{FF2B5EF4-FFF2-40B4-BE49-F238E27FC236}">
                <a16:creationId xmlns:a16="http://schemas.microsoft.com/office/drawing/2014/main" id="{19BB5428-3A80-BC0E-4B41-3862CF78066A}"/>
              </a:ext>
            </a:extLst>
          </p:cNvPr>
          <p:cNvSpPr txBox="1"/>
          <p:nvPr/>
        </p:nvSpPr>
        <p:spPr>
          <a:xfrm>
            <a:off x="371475" y="1556792"/>
            <a:ext cx="11557173" cy="50783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모터, 펌프, 팬, 압축기, 벨트 등 주요 설비 10개를 관리하는 제조기업이다. 생산설비의 장애는 생산 중단과 정비 부담으로 이어질 수 있어, 설비관리부서에서는 이상 징후를 조기에 파악하고 필요한 점검과 정비를 적시에 수행하여 안정적인 생산을 유지하고자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현재 현장에서는 온도, 진동, 전류, 회전속도, 압력, 잡음, 유압 등 다양한 센서 데이터가 실시간으로 수집되고 있다. 그러나 대부분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센서값을</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화면에 표시하고 작업자가 확인하는 수준으로 활용하고 있다. 설비별 데이터도 분산되어 있어 전체 설비의 상태를 한눈에 파악하거나, 어느 설비에 우선적으로 주의를 기울여야 하는지 신속하게 판단하기 어렵다.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작업자는 설비 상태를 확인하기 위해 여러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센서값을</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지속적으로 살펴봐야 한다. 특정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센서값이</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정상 범위를 벗어난 상태로 유지되더라도 즉각적인 경보가 없어, 작업자가 해당 화면을 확인한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후에야</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이상을 인지할 수 있다. 또한 이상 여부와 점검 필요성을 판단할 때 작업자의 경험에 의존하는 경우가 많아, 같은 상황에서도 담당자에 따라 판단과 대응 시점이 달라질 수 있다.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설비에 이상이 발생한 이후에도 대응에 어려움이 있다. 과거에 유사한 장애를 해결한 사례가 있지만, 관련 자료가 여러 문서에 흩어져 있어 현재 증상과 관련된 사례를 찾는 데 시간이 걸린다. 경험이 적은 작업자는 무엇부터 점검하고 어떤 조치를 취해야 하는지 판단하기 어려우며, 과거에 축적한 정비 경험을 현장에서 충분히 활용하지 못하고 있다.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설비관리부서는 전체 설비의 현재 상태와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센서값의</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변화 추이를 한 화면에서 확인하고, 정해진 이상 판단 조건에 해당하는 상태가 지속되면 해당 설비와 이상 내용을 즉시 알 수 있기를 원한다. 이상이 발생했을 때에는 우선 확인할 점검 항목과 조치방법을 파악하고, 과거 유사한 장애의 대응 사례도 함께 참고하고자 한다. 상세한 점검 및 조치방법은 작업자가 현장에서 확인하거나 정비 담당자와 공유할 수 있는 문서 형태로 제공되기를 기대하고 있다.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이러한 개선을 위해 설비 센서 데이터와 설비별 이상 판단 조건을 정리한 자료를 제공할 수 있다. 과거 이상장애 조치사례는 PDF 문서로 보유하고 있으며, 담당자가 해당 문서를 등록하여 유사 사례를 찾고 대응방법을 검토하는 데 활용하고자 한다. 감시 업무를 시작할 때에는 센서 데이터와 이상 판단 조건을 자동으로 불러와 바로 설비 상태를 확인할 수 있어야 한다. 시범 운영에 사용할 센서 데이터는 분 단위로 기록되어 있지만, 이상 감지와 대응 과정을 빠르게 시험하기 위해 각 기록을 초 단위 데이터로 가정하여 활용하고자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이에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P기업의</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설비관리부서는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AI를</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활용하여 설비 상태를 지속적으로 감시하고, 이상 발생 시 관련 점검 정보와 과거 조치사례를 찾아 작업자의 대응을 지원하는 체계를 마련하고자 한다. 이를 통해 작업자의 상시 감시 부담을 줄이고, 이상 인지부터 점검과 조치까지 소요되는 시간을 단축하여 갑작스러운 설비 장애와 생산 차질을 줄이고자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위의 상황을 고려하여 다음의 목적을 달성하고자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주요 설비의 상태와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센서값의</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변화 추이를 통합적으로 파악하고, 실시간 감시 업무의 효율을 높인다.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설비별 이상 판단 조건을 일관되게 적용하고, 이상 상태가 지속되면 신속하게 경보를 제공하여 조기 대응을 지원한다.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이상 발생 시 필요한 점검 항목과 조치방법을 파악하고, 과거 유사한 장애의 대응 사례를 쉽게 찾아 활용한다.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발생한 이상 상황에 맞는 상세 점검 및 조치방법을 문서로 정리하여 현장 작업과 담당자 간 정보 공유를 지원한다.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담당자의 경험에 따른 대응 차이와 반복적인 감시 부담을 줄이고, 적시 점검과 정비를 통해 설비 운영의 안정성을 높인다.</a:t>
            </a:r>
          </a:p>
        </p:txBody>
      </p:sp>
    </p:spTree>
    <p:extLst>
      <p:ext uri="{BB962C8B-B14F-4D97-AF65-F5344CB8AC3E}">
        <p14:creationId xmlns:p14="http://schemas.microsoft.com/office/powerpoint/2010/main" val="4023317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5AB5F-5C0B-E6E0-B11E-FCA2A104A4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BF3661BA-6C99-EFEC-FC21-0FDAA5697A88}"/>
              </a:ext>
            </a:extLst>
          </p:cNvPr>
          <p:cNvSpPr>
            <a:spLocks noGrp="1"/>
          </p:cNvSpPr>
          <p:nvPr>
            <p:ph type="title"/>
          </p:nvPr>
        </p:nvSpPr>
        <p:spPr/>
        <p:txBody>
          <a:bodyPr>
            <a:normAutofit/>
          </a:bodyPr>
          <a:lstStyle/>
          <a:p>
            <a:r>
              <a:rPr lang="ko-KR" altLang="en-US" sz="3200" b="0" dirty="0">
                <a:solidFill>
                  <a:prstClr val="black"/>
                </a:solidFill>
                <a:latin typeface="HY견고딕" panose="02030600000101010101" pitchFamily="18" charset="-127"/>
                <a:ea typeface="HY견고딕" panose="02030600000101010101" pitchFamily="18" charset="-127"/>
                <a:cs typeface="+mn-cs"/>
              </a:rPr>
              <a:t>과제 </a:t>
            </a:r>
            <a:r>
              <a:rPr lang="en-US" altLang="ko-KR" sz="3200" b="0" dirty="0">
                <a:solidFill>
                  <a:prstClr val="black"/>
                </a:solidFill>
                <a:latin typeface="HY견고딕" panose="02030600000101010101" pitchFamily="18" charset="-127"/>
                <a:ea typeface="HY견고딕" panose="02030600000101010101" pitchFamily="18" charset="-127"/>
                <a:cs typeface="+mn-cs"/>
              </a:rPr>
              <a:t>3: </a:t>
            </a:r>
            <a:r>
              <a:rPr lang="ko-KR" altLang="en-US" sz="3200" b="0" dirty="0">
                <a:solidFill>
                  <a:prstClr val="black"/>
                </a:solidFill>
                <a:latin typeface="HY견고딕" panose="02030600000101010101" pitchFamily="18" charset="-127"/>
                <a:ea typeface="HY견고딕" panose="02030600000101010101" pitchFamily="18" charset="-127"/>
                <a:cs typeface="+mn-cs"/>
              </a:rPr>
              <a:t>설비장애감시 </a:t>
            </a:r>
            <a:r>
              <a:rPr lang="en-US" altLang="ko-KR" sz="3200" b="0" dirty="0">
                <a:solidFill>
                  <a:prstClr val="black"/>
                </a:solidFill>
                <a:latin typeface="HY견고딕" panose="02030600000101010101" pitchFamily="18" charset="-127"/>
                <a:ea typeface="HY견고딕" panose="02030600000101010101" pitchFamily="18" charset="-127"/>
                <a:cs typeface="+mn-cs"/>
              </a:rPr>
              <a:t>Agent</a:t>
            </a:r>
            <a:endParaRPr lang="en-US" altLang="ko-KR" sz="1800" dirty="0">
              <a:solidFill>
                <a:srgbClr val="000000"/>
              </a:solidFill>
              <a:latin typeface="HY견고딕" panose="02030600000101010101" pitchFamily="18" charset="-127"/>
              <a:ea typeface="HY견고딕" panose="02030600000101010101" pitchFamily="18" charset="-127"/>
            </a:endParaRPr>
          </a:p>
        </p:txBody>
      </p:sp>
      <p:sp>
        <p:nvSpPr>
          <p:cNvPr id="55" name="슬라이드 번호 개체 틀 2">
            <a:extLst>
              <a:ext uri="{FF2B5EF4-FFF2-40B4-BE49-F238E27FC236}">
                <a16:creationId xmlns:a16="http://schemas.microsoft.com/office/drawing/2014/main" id="{B4EE7461-D6C1-875B-E5DC-C92D28F94418}"/>
              </a:ext>
            </a:extLst>
          </p:cNvPr>
          <p:cNvSpPr>
            <a:spLocks noGrp="1"/>
          </p:cNvSpPr>
          <p:nvPr>
            <p:ph type="sldNum" sz="quarter" idx="4"/>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n-US" altLang="ko-KR" sz="1200" b="0" i="0" u="none" strike="noStrike" kern="1200" cap="none" spc="-150" normalizeH="0" baseline="0" noProof="0" smtClean="0">
                <a:ln>
                  <a:noFill/>
                </a:ln>
                <a:solidFill>
                  <a:prstClr val="black">
                    <a:tint val="82000"/>
                  </a:prstClr>
                </a:solidFill>
                <a:effectLst/>
                <a:uLnTx/>
                <a:uFillTx/>
                <a:latin typeface="나눔스퀘어" panose="020B0600000101010101" pitchFamily="50" charset="-127"/>
                <a:ea typeface="나눔스퀘어" panose="020B0600000101010101"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ko-KR" altLang="en-US" sz="1200" b="0" i="0" u="none" strike="noStrike" kern="1200" cap="none" spc="-150" normalizeH="0" baseline="0" noProof="0" dirty="0">
              <a:ln>
                <a:noFill/>
              </a:ln>
              <a:solidFill>
                <a:prstClr val="black">
                  <a:tint val="82000"/>
                </a:prstClr>
              </a:solidFill>
              <a:effectLst/>
              <a:uLnTx/>
              <a:uFillTx/>
              <a:latin typeface="나눔스퀘어" panose="020B0600000101010101" pitchFamily="50" charset="-127"/>
              <a:ea typeface="나눔스퀘어" panose="020B0600000101010101" pitchFamily="50" charset="-127"/>
              <a:cs typeface="+mn-cs"/>
            </a:endParaRPr>
          </a:p>
        </p:txBody>
      </p:sp>
      <p:sp>
        <p:nvSpPr>
          <p:cNvPr id="2" name="직사각형 1">
            <a:extLst>
              <a:ext uri="{FF2B5EF4-FFF2-40B4-BE49-F238E27FC236}">
                <a16:creationId xmlns:a16="http://schemas.microsoft.com/office/drawing/2014/main" id="{6A994D18-30B5-B1D6-0789-533E8AAF6424}"/>
              </a:ext>
            </a:extLst>
          </p:cNvPr>
          <p:cNvSpPr/>
          <p:nvPr/>
        </p:nvSpPr>
        <p:spPr>
          <a:xfrm>
            <a:off x="504824" y="1040036"/>
            <a:ext cx="11387139"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데이터셋</a:t>
            </a:r>
            <a:endParaRPr kumimoji="0" lang="ko-KR" altLang="en-US" sz="1600" b="1" i="0" u="none" strike="noStrike" kern="1200" cap="none" spc="0" normalizeH="0" baseline="0" noProof="0" dirty="0">
              <a:ln w="3175">
                <a:solidFill>
                  <a:srgbClr val="56D49C">
                    <a:shade val="1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pic>
        <p:nvPicPr>
          <p:cNvPr id="7" name="그림 6">
            <a:extLst>
              <a:ext uri="{FF2B5EF4-FFF2-40B4-BE49-F238E27FC236}">
                <a16:creationId xmlns:a16="http://schemas.microsoft.com/office/drawing/2014/main" id="{52D7D63D-1A8D-6E27-F13B-E0115FDE5F94}"/>
              </a:ext>
            </a:extLst>
          </p:cNvPr>
          <p:cNvPicPr>
            <a:picLocks noChangeAspect="1"/>
          </p:cNvPicPr>
          <p:nvPr/>
        </p:nvPicPr>
        <p:blipFill>
          <a:blip r:embed="rId3"/>
          <a:srcRect l="1851"/>
          <a:stretch>
            <a:fillRect/>
          </a:stretch>
        </p:blipFill>
        <p:spPr>
          <a:xfrm>
            <a:off x="623393" y="1937363"/>
            <a:ext cx="3168352" cy="2858780"/>
          </a:xfrm>
          <a:prstGeom prst="rect">
            <a:avLst/>
          </a:prstGeom>
          <a:ln>
            <a:solidFill>
              <a:schemeClr val="bg1">
                <a:lumMod val="75000"/>
              </a:schemeClr>
            </a:solidFill>
          </a:ln>
        </p:spPr>
      </p:pic>
      <p:sp>
        <p:nvSpPr>
          <p:cNvPr id="11" name="직사각형 10">
            <a:extLst>
              <a:ext uri="{FF2B5EF4-FFF2-40B4-BE49-F238E27FC236}">
                <a16:creationId xmlns:a16="http://schemas.microsoft.com/office/drawing/2014/main" id="{D46A17E7-CB07-6180-6C85-E8FD60D78F73}"/>
              </a:ext>
            </a:extLst>
          </p:cNvPr>
          <p:cNvSpPr/>
          <p:nvPr/>
        </p:nvSpPr>
        <p:spPr>
          <a:xfrm>
            <a:off x="695400" y="1541999"/>
            <a:ext cx="2561222" cy="292068"/>
          </a:xfrm>
          <a:prstGeom prst="rect">
            <a:avLst/>
          </a:prstGeom>
        </p:spPr>
        <p:txBody>
          <a:bodyPr wrap="square">
            <a:spAutoFit/>
          </a:bodyPr>
          <a:lstStyle/>
          <a:p>
            <a:pPr marL="0" marR="0" lvl="1" indent="0" algn="l" defTabSz="914400" rtl="0" eaLnBrk="1" fontAlgn="auto" latinLnBrk="1" hangingPunct="1">
              <a:lnSpc>
                <a:spcPct val="120000"/>
              </a:lnSpc>
              <a:spcBef>
                <a:spcPts val="0"/>
              </a:spcBef>
              <a:spcAft>
                <a:spcPts val="0"/>
              </a:spcAft>
              <a:buClrTx/>
              <a:buSzTx/>
              <a:buFont typeface="Wingdings" panose="05000000000000000000" pitchFamily="2" charset="2"/>
              <a:buChar char="ü"/>
              <a:tabLst/>
              <a:defRPr/>
            </a:pPr>
            <a:r>
              <a:rPr kumimoji="0" lang="ko-KR" altLang="en-US"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t>
            </a:r>
            <a:r>
              <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t>
            </a:r>
            <a:r>
              <a:rPr kumimoji="0" lang="ko-KR" altLang="en-US"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설비센서데이터</a:t>
            </a:r>
            <a:r>
              <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.csv  10,000</a:t>
            </a:r>
            <a:r>
              <a:rPr kumimoji="0" lang="ko-KR" altLang="en-US"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행</a:t>
            </a:r>
            <a:endPar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pic>
        <p:nvPicPr>
          <p:cNvPr id="17" name="그림 16">
            <a:extLst>
              <a:ext uri="{FF2B5EF4-FFF2-40B4-BE49-F238E27FC236}">
                <a16:creationId xmlns:a16="http://schemas.microsoft.com/office/drawing/2014/main" id="{3FBB769A-9215-F33C-6C44-F3C82E95F425}"/>
              </a:ext>
            </a:extLst>
          </p:cNvPr>
          <p:cNvPicPr>
            <a:picLocks noChangeAspect="1"/>
          </p:cNvPicPr>
          <p:nvPr/>
        </p:nvPicPr>
        <p:blipFill>
          <a:blip r:embed="rId4"/>
          <a:stretch>
            <a:fillRect/>
          </a:stretch>
        </p:blipFill>
        <p:spPr>
          <a:xfrm>
            <a:off x="4173245" y="1937364"/>
            <a:ext cx="3434923" cy="2858780"/>
          </a:xfrm>
          <a:prstGeom prst="rect">
            <a:avLst/>
          </a:prstGeom>
          <a:ln>
            <a:solidFill>
              <a:schemeClr val="bg1">
                <a:lumMod val="75000"/>
              </a:schemeClr>
            </a:solidFill>
          </a:ln>
        </p:spPr>
      </p:pic>
      <p:sp>
        <p:nvSpPr>
          <p:cNvPr id="18" name="직사각형 17">
            <a:extLst>
              <a:ext uri="{FF2B5EF4-FFF2-40B4-BE49-F238E27FC236}">
                <a16:creationId xmlns:a16="http://schemas.microsoft.com/office/drawing/2014/main" id="{93F492B3-39A0-9120-1D82-67EDAC57BD74}"/>
              </a:ext>
            </a:extLst>
          </p:cNvPr>
          <p:cNvSpPr/>
          <p:nvPr/>
        </p:nvSpPr>
        <p:spPr>
          <a:xfrm>
            <a:off x="4152032" y="1541999"/>
            <a:ext cx="2561222" cy="292068"/>
          </a:xfrm>
          <a:prstGeom prst="rect">
            <a:avLst/>
          </a:prstGeom>
        </p:spPr>
        <p:txBody>
          <a:bodyPr wrap="square">
            <a:spAutoFit/>
          </a:bodyPr>
          <a:lstStyle/>
          <a:p>
            <a:pPr marL="0" marR="0" lvl="1" indent="0" algn="l" defTabSz="914400" rtl="0" eaLnBrk="1" fontAlgn="auto" latinLnBrk="1" hangingPunct="1">
              <a:lnSpc>
                <a:spcPct val="120000"/>
              </a:lnSpc>
              <a:spcBef>
                <a:spcPts val="0"/>
              </a:spcBef>
              <a:spcAft>
                <a:spcPts val="0"/>
              </a:spcAft>
              <a:buClrTx/>
              <a:buSzTx/>
              <a:buFont typeface="Wingdings" panose="05000000000000000000" pitchFamily="2" charset="2"/>
              <a:buChar char="ü"/>
              <a:tabLst/>
              <a:defRPr/>
            </a:pPr>
            <a:r>
              <a:rPr kumimoji="0" lang="ko-KR" altLang="en-US"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t>
            </a:r>
            <a:r>
              <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t>
            </a:r>
            <a:r>
              <a:rPr kumimoji="0" lang="ko-KR" altLang="en-US"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설비이상조건</a:t>
            </a:r>
            <a:r>
              <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r>
              <a:rPr kumimoji="0" lang="en-US" altLang="ko-KR" sz="1200" b="1" i="0" u="none" strike="noStrike" kern="1200" cap="none" spc="0" normalizeH="0" baseline="0" noProof="0" dirty="0" err="1">
                <a:ln>
                  <a:noFill/>
                </a:ln>
                <a:solidFill>
                  <a:prstClr val="black"/>
                </a:solidFill>
                <a:effectLst/>
                <a:uLnTx/>
                <a:uFillTx/>
                <a:latin typeface="맑은 고딕" panose="020B0503020000020004" pitchFamily="50" charset="-127"/>
                <a:ea typeface="맑은 고딕" panose="020B0503020000020004" pitchFamily="50" charset="-127"/>
                <a:cs typeface="+mn-cs"/>
              </a:rPr>
              <a:t>json</a:t>
            </a:r>
            <a:r>
              <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t>
            </a:r>
          </a:p>
        </p:txBody>
      </p:sp>
      <p:sp>
        <p:nvSpPr>
          <p:cNvPr id="19" name="직사각형 18">
            <a:extLst>
              <a:ext uri="{FF2B5EF4-FFF2-40B4-BE49-F238E27FC236}">
                <a16:creationId xmlns:a16="http://schemas.microsoft.com/office/drawing/2014/main" id="{0E1A2C2D-A519-D381-027F-B3B116797D9C}"/>
              </a:ext>
            </a:extLst>
          </p:cNvPr>
          <p:cNvSpPr/>
          <p:nvPr/>
        </p:nvSpPr>
        <p:spPr>
          <a:xfrm>
            <a:off x="7968208" y="1541999"/>
            <a:ext cx="2561222" cy="292068"/>
          </a:xfrm>
          <a:prstGeom prst="rect">
            <a:avLst/>
          </a:prstGeom>
        </p:spPr>
        <p:txBody>
          <a:bodyPr wrap="square">
            <a:spAutoFit/>
          </a:bodyPr>
          <a:lstStyle/>
          <a:p>
            <a:pPr marL="0" marR="0" lvl="1" indent="0" algn="l" defTabSz="914400" rtl="0" eaLnBrk="1" fontAlgn="auto" latinLnBrk="1" hangingPunct="1">
              <a:lnSpc>
                <a:spcPct val="120000"/>
              </a:lnSpc>
              <a:spcBef>
                <a:spcPts val="0"/>
              </a:spcBef>
              <a:spcAft>
                <a:spcPts val="0"/>
              </a:spcAft>
              <a:buClrTx/>
              <a:buSzTx/>
              <a:buFont typeface="Wingdings" panose="05000000000000000000" pitchFamily="2" charset="2"/>
              <a:buChar char="ü"/>
              <a:tabLst/>
              <a:defRPr/>
            </a:pPr>
            <a:r>
              <a:rPr kumimoji="0" lang="ko-KR" altLang="en-US"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t>
            </a:r>
            <a:r>
              <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t>
            </a:r>
            <a:r>
              <a:rPr kumimoji="0" lang="ko-KR" altLang="en-US"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이상장애조치사례</a:t>
            </a:r>
            <a:r>
              <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.pdf  50</a:t>
            </a:r>
            <a:r>
              <a:rPr kumimoji="0" lang="ko-KR" altLang="en-US"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건</a:t>
            </a:r>
            <a:endParaRPr kumimoji="0" lang="en-US" altLang="ko-KR" sz="12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pic>
        <p:nvPicPr>
          <p:cNvPr id="21" name="그림 20">
            <a:extLst>
              <a:ext uri="{FF2B5EF4-FFF2-40B4-BE49-F238E27FC236}">
                <a16:creationId xmlns:a16="http://schemas.microsoft.com/office/drawing/2014/main" id="{812BA2D7-B881-2141-905E-E630ABF6566B}"/>
              </a:ext>
            </a:extLst>
          </p:cNvPr>
          <p:cNvPicPr>
            <a:picLocks noChangeAspect="1"/>
          </p:cNvPicPr>
          <p:nvPr/>
        </p:nvPicPr>
        <p:blipFill>
          <a:blip r:embed="rId5"/>
          <a:stretch>
            <a:fillRect/>
          </a:stretch>
        </p:blipFill>
        <p:spPr>
          <a:xfrm>
            <a:off x="7968208" y="1937363"/>
            <a:ext cx="3672408" cy="2858780"/>
          </a:xfrm>
          <a:prstGeom prst="rect">
            <a:avLst/>
          </a:prstGeom>
          <a:ln>
            <a:solidFill>
              <a:schemeClr val="bg1">
                <a:lumMod val="75000"/>
              </a:schemeClr>
            </a:solidFill>
          </a:ln>
        </p:spPr>
      </p:pic>
    </p:spTree>
    <p:extLst>
      <p:ext uri="{BB962C8B-B14F-4D97-AF65-F5344CB8AC3E}">
        <p14:creationId xmlns:p14="http://schemas.microsoft.com/office/powerpoint/2010/main" val="2363906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14ED0-9477-69C2-0CE0-8A23A48954BD}"/>
            </a:ext>
          </a:extLst>
        </p:cNvPr>
        <p:cNvGrpSpPr/>
        <p:nvPr/>
      </p:nvGrpSpPr>
      <p:grpSpPr>
        <a:xfrm>
          <a:off x="0" y="0"/>
          <a:ext cx="0" cy="0"/>
          <a:chOff x="0" y="0"/>
          <a:chExt cx="0" cy="0"/>
        </a:xfrm>
      </p:grpSpPr>
      <p:sp>
        <p:nvSpPr>
          <p:cNvPr id="11" name="직사각형 10">
            <a:extLst>
              <a:ext uri="{FF2B5EF4-FFF2-40B4-BE49-F238E27FC236}">
                <a16:creationId xmlns:a16="http://schemas.microsoft.com/office/drawing/2014/main" id="{89DA8574-E4D1-10AC-D4BE-52D12BA126F5}"/>
              </a:ext>
            </a:extLst>
          </p:cNvPr>
          <p:cNvSpPr/>
          <p:nvPr/>
        </p:nvSpPr>
        <p:spPr>
          <a:xfrm>
            <a:off x="504824" y="1040036"/>
            <a:ext cx="11387139"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아웃풋 이미지</a:t>
            </a:r>
            <a:endParaRPr kumimoji="0" lang="ko-KR" altLang="en-US" sz="1600" b="1" i="0" u="none" strike="noStrike" kern="1200" cap="none" spc="0" normalizeH="0" baseline="0" noProof="0" dirty="0">
              <a:ln w="3175">
                <a:solidFill>
                  <a:srgbClr val="56D49C">
                    <a:shade val="1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 name="제목 1">
            <a:extLst>
              <a:ext uri="{FF2B5EF4-FFF2-40B4-BE49-F238E27FC236}">
                <a16:creationId xmlns:a16="http://schemas.microsoft.com/office/drawing/2014/main" id="{1E623583-A8CC-0A6E-F0C4-762873952725}"/>
              </a:ext>
            </a:extLst>
          </p:cNvPr>
          <p:cNvSpPr>
            <a:spLocks noGrp="1"/>
          </p:cNvSpPr>
          <p:nvPr>
            <p:ph type="title"/>
          </p:nvPr>
        </p:nvSpPr>
        <p:spPr/>
        <p:txBody>
          <a:bodyPr>
            <a:normAutofit/>
          </a:bodyPr>
          <a:lstStyle/>
          <a:p>
            <a:r>
              <a:rPr lang="ko-KR" altLang="en-US" sz="3200" b="0" dirty="0">
                <a:solidFill>
                  <a:prstClr val="black"/>
                </a:solidFill>
                <a:latin typeface="HY견고딕" panose="02030600000101010101" pitchFamily="18" charset="-127"/>
                <a:ea typeface="HY견고딕" panose="02030600000101010101" pitchFamily="18" charset="-127"/>
              </a:rPr>
              <a:t>과제 </a:t>
            </a:r>
            <a:r>
              <a:rPr lang="en-US" altLang="ko-KR" sz="3200" b="0" dirty="0">
                <a:solidFill>
                  <a:prstClr val="black"/>
                </a:solidFill>
                <a:latin typeface="HY견고딕" panose="02030600000101010101" pitchFamily="18" charset="-127"/>
                <a:ea typeface="HY견고딕" panose="02030600000101010101" pitchFamily="18" charset="-127"/>
              </a:rPr>
              <a:t>3: </a:t>
            </a:r>
            <a:r>
              <a:rPr lang="ko-KR" altLang="en-US" sz="3200" b="0" dirty="0">
                <a:solidFill>
                  <a:prstClr val="black"/>
                </a:solidFill>
                <a:latin typeface="HY견고딕" panose="02030600000101010101" pitchFamily="18" charset="-127"/>
                <a:ea typeface="HY견고딕" panose="02030600000101010101" pitchFamily="18" charset="-127"/>
              </a:rPr>
              <a:t>설비장애감시 </a:t>
            </a:r>
            <a:r>
              <a:rPr lang="en-US" altLang="ko-KR" sz="3200" b="0" dirty="0">
                <a:solidFill>
                  <a:prstClr val="black"/>
                </a:solidFill>
                <a:latin typeface="HY견고딕" panose="02030600000101010101" pitchFamily="18" charset="-127"/>
                <a:ea typeface="HY견고딕" panose="02030600000101010101" pitchFamily="18" charset="-127"/>
              </a:rPr>
              <a:t>Agent</a:t>
            </a:r>
            <a:endParaRPr lang="en-US" altLang="ko-KR" sz="1800" dirty="0">
              <a:solidFill>
                <a:srgbClr val="000000"/>
              </a:solidFill>
              <a:latin typeface="HY견고딕" panose="02030600000101010101" pitchFamily="18" charset="-127"/>
              <a:ea typeface="HY견고딕" panose="02030600000101010101" pitchFamily="18" charset="-127"/>
            </a:endParaRPr>
          </a:p>
        </p:txBody>
      </p:sp>
      <p:sp>
        <p:nvSpPr>
          <p:cNvPr id="55" name="슬라이드 번호 개체 틀 2">
            <a:extLst>
              <a:ext uri="{FF2B5EF4-FFF2-40B4-BE49-F238E27FC236}">
                <a16:creationId xmlns:a16="http://schemas.microsoft.com/office/drawing/2014/main" id="{D111845A-BBB7-94F0-0048-A48E78910C86}"/>
              </a:ext>
            </a:extLst>
          </p:cNvPr>
          <p:cNvSpPr>
            <a:spLocks noGrp="1"/>
          </p:cNvSpPr>
          <p:nvPr>
            <p:ph type="sldNum" sz="quarter" idx="4"/>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n-US" altLang="ko-KR" sz="1200" b="0" i="0" u="none" strike="noStrike" kern="1200" cap="none" spc="-150" normalizeH="0" baseline="0" noProof="0" smtClean="0">
                <a:ln>
                  <a:noFill/>
                </a:ln>
                <a:solidFill>
                  <a:prstClr val="black">
                    <a:tint val="82000"/>
                  </a:prstClr>
                </a:solidFill>
                <a:effectLst/>
                <a:uLnTx/>
                <a:uFillTx/>
                <a:latin typeface="나눔스퀘어" panose="020B0600000101010101" pitchFamily="50" charset="-127"/>
                <a:ea typeface="나눔스퀘어" panose="020B0600000101010101"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ko-KR" altLang="en-US" sz="1200" b="0" i="0" u="none" strike="noStrike" kern="1200" cap="none" spc="-150" normalizeH="0" baseline="0" noProof="0" dirty="0">
              <a:ln>
                <a:noFill/>
              </a:ln>
              <a:solidFill>
                <a:prstClr val="black">
                  <a:tint val="82000"/>
                </a:prstClr>
              </a:solidFill>
              <a:effectLst/>
              <a:uLnTx/>
              <a:uFillTx/>
              <a:latin typeface="나눔스퀘어" panose="020B0600000101010101" pitchFamily="50" charset="-127"/>
              <a:ea typeface="나눔스퀘어" panose="020B0600000101010101" pitchFamily="50" charset="-127"/>
              <a:cs typeface="+mn-cs"/>
            </a:endParaRPr>
          </a:p>
        </p:txBody>
      </p:sp>
      <p:pic>
        <p:nvPicPr>
          <p:cNvPr id="3" name="그림 2">
            <a:extLst>
              <a:ext uri="{FF2B5EF4-FFF2-40B4-BE49-F238E27FC236}">
                <a16:creationId xmlns:a16="http://schemas.microsoft.com/office/drawing/2014/main" id="{A31EF9D3-9901-8970-CD35-4F87CF9F1C8D}"/>
              </a:ext>
            </a:extLst>
          </p:cNvPr>
          <p:cNvPicPr>
            <a:picLocks noChangeAspect="1"/>
          </p:cNvPicPr>
          <p:nvPr/>
        </p:nvPicPr>
        <p:blipFill>
          <a:blip r:embed="rId3"/>
          <a:stretch>
            <a:fillRect/>
          </a:stretch>
        </p:blipFill>
        <p:spPr>
          <a:xfrm>
            <a:off x="839416" y="1577948"/>
            <a:ext cx="10513168" cy="4947396"/>
          </a:xfrm>
          <a:prstGeom prst="rect">
            <a:avLst/>
          </a:prstGeom>
          <a:ln>
            <a:solidFill>
              <a:schemeClr val="bg1">
                <a:lumMod val="75000"/>
              </a:schemeClr>
            </a:solidFill>
          </a:ln>
        </p:spPr>
      </p:pic>
      <p:pic>
        <p:nvPicPr>
          <p:cNvPr id="4" name="그림 3">
            <a:extLst>
              <a:ext uri="{FF2B5EF4-FFF2-40B4-BE49-F238E27FC236}">
                <a16:creationId xmlns:a16="http://schemas.microsoft.com/office/drawing/2014/main" id="{182F4A93-006D-924C-7FEF-02BC4504A83C}"/>
              </a:ext>
            </a:extLst>
          </p:cNvPr>
          <p:cNvPicPr>
            <a:picLocks noChangeAspect="1"/>
          </p:cNvPicPr>
          <p:nvPr/>
        </p:nvPicPr>
        <p:blipFill>
          <a:blip r:embed="rId4"/>
          <a:stretch>
            <a:fillRect/>
          </a:stretch>
        </p:blipFill>
        <p:spPr>
          <a:xfrm>
            <a:off x="6515592" y="1015561"/>
            <a:ext cx="5254762" cy="2051324"/>
          </a:xfrm>
          <a:prstGeom prst="rect">
            <a:avLst/>
          </a:prstGeom>
          <a:ln>
            <a:solidFill>
              <a:schemeClr val="bg1">
                <a:lumMod val="75000"/>
              </a:schemeClr>
            </a:solidFill>
          </a:ln>
        </p:spPr>
      </p:pic>
    </p:spTree>
    <p:extLst>
      <p:ext uri="{BB962C8B-B14F-4D97-AF65-F5344CB8AC3E}">
        <p14:creationId xmlns:p14="http://schemas.microsoft.com/office/powerpoint/2010/main" val="381273438"/>
      </p:ext>
    </p:extLst>
  </p:cSld>
  <p:clrMapOvr>
    <a:masterClrMapping/>
  </p:clrMapOvr>
</p:sld>
</file>

<file path=ppt/theme/theme1.xml><?xml version="1.0" encoding="utf-8"?>
<a:theme xmlns:a="http://schemas.openxmlformats.org/drawingml/2006/main" name="Office 테마">
  <a:themeElements>
    <a:clrScheme name="사용자 지정 1371">
      <a:dk1>
        <a:sysClr val="windowText" lastClr="000000"/>
      </a:dk1>
      <a:lt1>
        <a:sysClr val="window" lastClr="FFFFFF"/>
      </a:lt1>
      <a:dk2>
        <a:srgbClr val="31484E"/>
      </a:dk2>
      <a:lt2>
        <a:srgbClr val="E5E9F5"/>
      </a:lt2>
      <a:accent1>
        <a:srgbClr val="56D49C"/>
      </a:accent1>
      <a:accent2>
        <a:srgbClr val="575A6B"/>
      </a:accent2>
      <a:accent3>
        <a:srgbClr val="57B5D3"/>
      </a:accent3>
      <a:accent4>
        <a:srgbClr val="D85295"/>
      </a:accent4>
      <a:accent5>
        <a:srgbClr val="81D05A"/>
      </a:accent5>
      <a:accent6>
        <a:srgbClr val="5A92D0"/>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572</Words>
  <Application>Microsoft Office PowerPoint</Application>
  <PresentationFormat>와이드스크린</PresentationFormat>
  <Paragraphs>28</Paragraphs>
  <Slides>3</Slides>
  <Notes>3</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vt:i4>
      </vt:variant>
    </vt:vector>
  </HeadingPairs>
  <TitlesOfParts>
    <vt:vector size="11" baseType="lpstr">
      <vt:lpstr>Arial</vt:lpstr>
      <vt:lpstr>HY견고딕</vt:lpstr>
      <vt:lpstr>Wingdings</vt:lpstr>
      <vt:lpstr>나눔스퀘어</vt:lpstr>
      <vt:lpstr>나눔스퀘어 Bold</vt:lpstr>
      <vt:lpstr>나눔스퀘어 ExtraBold</vt:lpstr>
      <vt:lpstr>맑은 고딕</vt:lpstr>
      <vt:lpstr>Office 테마</vt:lpstr>
      <vt:lpstr>과제 3: 설비장애감시 Agent</vt:lpstr>
      <vt:lpstr>과제 3: 설비장애감시 Agent</vt:lpstr>
      <vt:lpstr>과제 3: 설비장애감시 Agent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훈 백</dc:creator>
  <cp:lastModifiedBy>유 성현</cp:lastModifiedBy>
  <cp:revision>8</cp:revision>
  <dcterms:created xsi:type="dcterms:W3CDTF">2026-06-09T00:26:02Z</dcterms:created>
  <dcterms:modified xsi:type="dcterms:W3CDTF">2026-09-22T20:28:16Z</dcterms:modified>
</cp:coreProperties>
</file>