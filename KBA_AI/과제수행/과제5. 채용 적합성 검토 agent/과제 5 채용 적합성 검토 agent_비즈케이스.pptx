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"/>
  </p:notesMasterIdLst>
  <p:sldIdLst>
    <p:sldId id="1561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89" d="100"/>
          <a:sy n="89" d="100"/>
        </p:scale>
        <p:origin x="39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2DD2D-E7B9-4E8B-A177-739A266508B3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B979E-1388-4835-8479-85E89DB6C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13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6E2D7-33B6-32CE-9DCA-E831F4A4B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2FE500-DDB6-11F8-897F-550B36E59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D2F090-270B-1E67-5457-D3EEA84AD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645D40-1FFE-58DF-E824-5A6338269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51814-3B91-4036-94D2-3977634EE214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954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46382-D411-C520-84A0-F3A032D13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5861"/>
            <a:ext cx="8782050" cy="1323439"/>
          </a:xfr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ko-KR" altLang="en-US" sz="4000" kern="0" spc="-75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 indent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42623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151C6A-4A31-6028-D891-892DA2C6E8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103"/>
          <a:stretch>
            <a:fillRect/>
          </a:stretch>
        </p:blipFill>
        <p:spPr>
          <a:xfrm>
            <a:off x="0" y="2133600"/>
            <a:ext cx="12192000" cy="472440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EC00DEF6-C823-F463-B07A-6850A29D9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975" y="425794"/>
            <a:ext cx="8782050" cy="1323439"/>
          </a:xfrm>
        </p:spPr>
        <p:txBody>
          <a:bodyPr vert="horz" wrap="square" lIns="0" tIns="0" rIns="0" bIns="0" rtlCol="0" anchor="ctr">
            <a:noAutofit/>
          </a:bodyPr>
          <a:lstStyle>
            <a:lvl1pPr algn="ctr">
              <a:defRPr lang="ko-KR" altLang="en-US" sz="4400" kern="0" spc="-75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 indent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8373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80476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9B65E-9738-1B6A-2AF5-1B0B23A90293}"/>
              </a:ext>
            </a:extLst>
          </p:cNvPr>
          <p:cNvSpPr txBox="1"/>
          <p:nvPr userDrawn="1"/>
        </p:nvSpPr>
        <p:spPr>
          <a:xfrm>
            <a:off x="10657606" y="135924"/>
            <a:ext cx="1534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AI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개념 및</a:t>
            </a: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 이해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7552426C-BEE3-A46E-36B9-C445D9348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358978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C7321-DF29-1109-848C-A21A0DC7D31E}"/>
              </a:ext>
            </a:extLst>
          </p:cNvPr>
          <p:cNvSpPr txBox="1"/>
          <p:nvPr userDrawn="1"/>
        </p:nvSpPr>
        <p:spPr>
          <a:xfrm>
            <a:off x="11417429" y="135924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웹 이해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E2C145-D797-52B7-00DE-0445B9EBD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883425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01D1C-6451-4B0B-BA7E-D6E2A2EDAB82}"/>
              </a:ext>
            </a:extLst>
          </p:cNvPr>
          <p:cNvSpPr txBox="1"/>
          <p:nvPr userDrawn="1"/>
        </p:nvSpPr>
        <p:spPr>
          <a:xfrm>
            <a:off x="10587072" y="135924"/>
            <a:ext cx="1604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환경 구축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C8184-B79C-57CC-6EA9-2F2C217A5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238083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01D1C-6451-4B0B-BA7E-D6E2A2EDAB82}"/>
              </a:ext>
            </a:extLst>
          </p:cNvPr>
          <p:cNvSpPr txBox="1"/>
          <p:nvPr userDrawn="1"/>
        </p:nvSpPr>
        <p:spPr>
          <a:xfrm>
            <a:off x="11151330" y="135924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파이썬 기초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C8184-B79C-57CC-6EA9-2F2C217A5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760947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52AF80-98E5-00C1-3D29-3B8B2DD8A977}"/>
              </a:ext>
            </a:extLst>
          </p:cNvPr>
          <p:cNvSpPr txBox="1"/>
          <p:nvPr userDrawn="1"/>
        </p:nvSpPr>
        <p:spPr>
          <a:xfrm>
            <a:off x="10421964" y="135924"/>
            <a:ext cx="1770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기반 앱 개발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A91D89-397A-E068-6BE5-BD9B20D54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13339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419ED-A9B4-9A42-11D4-4FB0E5EAA280}"/>
              </a:ext>
            </a:extLst>
          </p:cNvPr>
          <p:cNvSpPr txBox="1"/>
          <p:nvPr userDrawn="1"/>
        </p:nvSpPr>
        <p:spPr>
          <a:xfrm>
            <a:off x="10421964" y="135924"/>
            <a:ext cx="1770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기반 웹 개발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72AB4E-5251-9CAB-E1AF-88A45EB47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25960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2EA657-5168-5360-B9A4-7EDE91C6AE11}"/>
              </a:ext>
            </a:extLst>
          </p:cNvPr>
          <p:cNvSpPr txBox="1"/>
          <p:nvPr userDrawn="1"/>
        </p:nvSpPr>
        <p:spPr>
          <a:xfrm>
            <a:off x="10587072" y="135924"/>
            <a:ext cx="1604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바이브코딩 스킬 활용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7CBEF7-0482-7E1B-44B5-2B05B029F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3911629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2EA657-5168-5360-B9A4-7EDE91C6AE11}"/>
              </a:ext>
            </a:extLst>
          </p:cNvPr>
          <p:cNvSpPr txBox="1"/>
          <p:nvPr userDrawn="1"/>
        </p:nvSpPr>
        <p:spPr>
          <a:xfrm>
            <a:off x="10845156" y="135924"/>
            <a:ext cx="1346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8. LangChain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이해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3FE19F-3A69-62BD-E546-7C8F3141C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3501878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31146-72F7-AC4E-9825-F03D5E71BDC2}"/>
              </a:ext>
            </a:extLst>
          </p:cNvPr>
          <p:cNvSpPr txBox="1"/>
          <p:nvPr userDrawn="1"/>
        </p:nvSpPr>
        <p:spPr>
          <a:xfrm>
            <a:off x="10999878" y="135924"/>
            <a:ext cx="11921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9. RAG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코드리뷰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40AB63B1-ECED-A82E-0791-A3F087C35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179870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66917-3E30-27FD-D690-5451145D92B5}"/>
              </a:ext>
            </a:extLst>
          </p:cNvPr>
          <p:cNvSpPr txBox="1"/>
          <p:nvPr userDrawn="1"/>
        </p:nvSpPr>
        <p:spPr>
          <a:xfrm>
            <a:off x="11177812" y="135924"/>
            <a:ext cx="1014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10. RAG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구현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388470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66917-3E30-27FD-D690-5451145D92B5}"/>
              </a:ext>
            </a:extLst>
          </p:cNvPr>
          <p:cNvSpPr txBox="1"/>
          <p:nvPr userDrawn="1"/>
        </p:nvSpPr>
        <p:spPr>
          <a:xfrm>
            <a:off x="11093558" y="135924"/>
            <a:ext cx="1098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11. Agent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개요</a:t>
            </a:r>
            <a:endParaRPr lang="ko-KR" altLang="en-US" sz="1200" spc="-50" baseline="0" dirty="0">
              <a:solidFill>
                <a:srgbClr val="00143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3999070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66917-3E30-27FD-D690-5451145D92B5}"/>
              </a:ext>
            </a:extLst>
          </p:cNvPr>
          <p:cNvSpPr txBox="1"/>
          <p:nvPr userDrawn="1"/>
        </p:nvSpPr>
        <p:spPr>
          <a:xfrm>
            <a:off x="11030143" y="135924"/>
            <a:ext cx="1161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12. LangGraph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94484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66917-3E30-27FD-D690-5451145D92B5}"/>
              </a:ext>
            </a:extLst>
          </p:cNvPr>
          <p:cNvSpPr txBox="1"/>
          <p:nvPr userDrawn="1"/>
        </p:nvSpPr>
        <p:spPr>
          <a:xfrm>
            <a:off x="10397919" y="135924"/>
            <a:ext cx="1794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13. </a:t>
            </a:r>
            <a:r>
              <a:rPr lang="ko-KR" altLang="en-US" sz="1200" b="1" i="0" u="none" strike="noStrike" spc="-50" baseline="0" dirty="0" err="1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하네스엔지니어링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개요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489428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313E9C-03BF-8F2E-4E48-B925F9EFC825}"/>
              </a:ext>
            </a:extLst>
          </p:cNvPr>
          <p:cNvSpPr/>
          <p:nvPr/>
        </p:nvSpPr>
        <p:spPr>
          <a:xfrm rot="10800000" flipH="1">
            <a:off x="0" y="3"/>
            <a:ext cx="12192002" cy="90488"/>
          </a:xfrm>
          <a:prstGeom prst="rect">
            <a:avLst/>
          </a:prstGeom>
          <a:solidFill>
            <a:srgbClr val="4CC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D9895-8706-7DB9-406D-6EDB9DBF41D6}"/>
              </a:ext>
            </a:extLst>
          </p:cNvPr>
          <p:cNvSpPr/>
          <p:nvPr/>
        </p:nvSpPr>
        <p:spPr>
          <a:xfrm rot="10800000" flipH="1">
            <a:off x="6096001" y="2"/>
            <a:ext cx="6095997" cy="90488"/>
          </a:xfrm>
          <a:prstGeom prst="rect">
            <a:avLst/>
          </a:prstGeom>
          <a:solidFill>
            <a:srgbClr val="266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40119-40AB-A262-0914-1F1235B15DD7}"/>
              </a:ext>
            </a:extLst>
          </p:cNvPr>
          <p:cNvSpPr/>
          <p:nvPr/>
        </p:nvSpPr>
        <p:spPr>
          <a:xfrm rot="10800000" flipH="1">
            <a:off x="9245598" y="2"/>
            <a:ext cx="2946400" cy="90488"/>
          </a:xfrm>
          <a:prstGeom prst="rect">
            <a:avLst/>
          </a:prstGeom>
          <a:solidFill>
            <a:srgbClr val="002F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FFFA99BA-9D1F-5C51-9DEE-77478027429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lvl="0"/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66917-3E30-27FD-D690-5451145D92B5}"/>
              </a:ext>
            </a:extLst>
          </p:cNvPr>
          <p:cNvSpPr txBox="1"/>
          <p:nvPr userDrawn="1"/>
        </p:nvSpPr>
        <p:spPr>
          <a:xfrm>
            <a:off x="11228275" y="135924"/>
            <a:ext cx="963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14. </a:t>
            </a:r>
            <a:r>
              <a:rPr lang="ko-KR" altLang="en-US" sz="1200" b="1" i="0" u="none" strike="noStrike" spc="-50" baseline="0" dirty="0">
                <a:solidFill>
                  <a:srgbClr val="00143F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과제수행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C187AB0-B806-509D-7169-4BA0A8AC0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6242" y="6492875"/>
            <a:ext cx="545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50">
                <a:solidFill>
                  <a:schemeClr val="tx1">
                    <a:tint val="82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4201447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7761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공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79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05D0EC-9124-8E2B-B62F-CECEFC66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EE6CFE-3345-681E-87C9-130DF4CC9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EFB1F0-DFE0-429D-C395-0B2ECFFD3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BDC94E-080A-AD3E-B6F2-2EF5E6CDB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A49E1-BF42-0DF3-7D7D-5C9D4A9C9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9B39AC2E-0BC5-4C4B-9DA4-EF26BB28E6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2693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A5D66-9113-8FFA-11B7-582965752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슬라이드 번호 개체 틀 2">
            <a:extLst>
              <a:ext uri="{FF2B5EF4-FFF2-40B4-BE49-F238E27FC236}">
                <a16:creationId xmlns:a16="http://schemas.microsoft.com/office/drawing/2014/main" id="{C19371B2-8E51-B0A2-7F7F-6321F3C85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DC2DEF-D2FE-4B45-ABA4-9F153FD1C98A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F64F3E-5615-70F3-9D33-902D5E12CF25}"/>
              </a:ext>
            </a:extLst>
          </p:cNvPr>
          <p:cNvSpPr/>
          <p:nvPr/>
        </p:nvSpPr>
        <p:spPr>
          <a:xfrm>
            <a:off x="287401" y="1029918"/>
            <a:ext cx="116045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▶ 다음 비즈니스 상황 설명서를 읽고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→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과제 정의서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PRD, Prompts/Architecture/UI.md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를 작성하고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Agent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시스템을 구현하세요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!!</a:t>
            </a:r>
            <a:endParaRPr kumimoji="0" lang="ko-KR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3F38EE-5290-5560-E365-9E6A5FCE171C}"/>
              </a:ext>
            </a:extLst>
          </p:cNvPr>
          <p:cNvSpPr txBox="1"/>
          <p:nvPr/>
        </p:nvSpPr>
        <p:spPr>
          <a:xfrm>
            <a:off x="371475" y="1556792"/>
            <a:ext cx="1155717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P기업은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소프트웨어개발, 영업마케팅, 생산기술, 경영지원 등 여러 직무의 인력을 채용하고 있다. 인사부서에서는 지원자의 핵심정보를 파악하고, 각 지원자가 해당 직무의 요건에 얼마나 부합하는지 검토하여 채용담당자의 의사결정을 지원하고자 한다. 여러 직무의 채용을 함께 진행하는 만큼, 직무별 기준에 따라 지원자를 일관되게 검토하고 결과를 신속하게 정리할 필요가 있다.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현재 채용담당자는 CSV 파일로 취합한 지원자 정보를 확인한 뒤, 별도로 관리하는 직무별 요건과 평가기준 문서를 찾아 지원자별로 대조하고 있다. 검토가 끝난 후에는 결과를 다시 표로 정리하고 채용 검토 보고서를 작성한다. 이 과정에서 정보를 확인하고 기준을 찾아 적용하는 작업이 반복되며, 보고서 작성에도 많은 시간이 소요된다.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직무마다 요구하는 경력과 역량 등이 다르므로, 지원자의 정보를 어떤 기준으로 검토해야 하는지 정확히 파악하는 것이 중요하다. 그러나 직무요건과 평가기준이 여러 문서에 나뉘어 있으면 관련 내용을 찾아 적용하는 데 시간이 걸리고, 담당자에 따라 기준을 해석하거나 결과를 정리하는 방식이 달라질 수 있다. 지원자 정보만으로 요건 충족 여부를 판단하기 어려운 경우에는 추가 확인이 필요한 사항도 구분해야 한다.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인사부서는 지원자 데이터가 담긴 applicants.csv 파일을 업무 화면에 업로드하면, 지원자별 핵심정보와 지원 직무를 정리하고 해당 직무의 요건 및 평가기준을 사내 자료에서 찾아 검토에 활용할 수 있기를 원한다. 지원자 정보 분석, 관련 기준 확인과 적용, 보고서 작성이 순서대로 이어지고, 담당자가 화면에서 분석 진행상태를 확인할 수 있는 체계를 기대하고 있다.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분석이 완료되면 담당자는 지원자, 지원 직무, 적합도, 직무요건 충족 여부, 권고사항을 표 형태로 비교하고자 한다. 적합도는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높음·보통·낮음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등으로 제시하고, 요건 충족 여부와 함께 면접 추천, 보류, 확인 필요 등의 검토 의견을 참고하기를 원한다. 정보가 부족하거나 판단 근거가 불명확한 지원자는 ‘확인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필요’로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표시하여 담당자가 추가 정보를 확인할 수 있어야 한다.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검토 결과는 화면에서 확인하는 것과 함께, 관련 부서와 공유하고 내용을 보완할 수 있는 Word 보고서로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내려받을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수 있어야 한다. 인사부서는 지원자별 결과를 나란히 비교하기 쉽도록 분석 결과를 표로 정리한 채용 검토 보고서를 원하며, 문서 형식은 DOCX, 용지 방향은 가로, 글자 크기는 14pt로 정하고자 한다.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이에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P기업의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인사부서는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AI를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활용하여 지원자 정보와 직무별 기준을 연결하고, 적합성 검토 결과와 보고서 작성을 지원하는 의사결정 보조 체계를 마련하고자 한다. </a:t>
            </a: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AI가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제시한 적합도와 권고사항은 채용 검토를 위한 참고자료로 활용하며, 면접 진행 여부와 최종 채용 여부는 채용담당자가 관련 자료를 검토한 후 판단한다. 이를 통해 반복적인 자료 정리와 보고서 작성 부담을 줄이고, 담당자가 지원자에 대한 추가 확인과 채용 판단에 더 많은 시간을 사용할 수 있도록 하고자 한다.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P기업은</a:t>
            </a: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위의 상황을 고려하여 다음의 목적을 달성하고자 한다.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업로드한 지원자 데이터에서 핵심정보와 지원 직무를 파악하여 지원자별 검토에 필요한 자료 정리 시간을 줄인다.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사내 자료에서 직무별 요건과 평가기준을 찾아 적용하고, 해당 직무의 기준에 따라 지원자 적합성을 일관되게 검토한다.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지원자별 적합도, 직무요건 충족 여부, 권고사항을 비교하고, 추가 확인이 필요한 지원자를 구분한다.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분석 결과를 표로 정리한 채용 검토 보고서를 가로 방향, 14pt 글씨의 DOCX 파일로 생성하여 검토와 공유에 활용한다.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채용담당자가 최종 판단을 수행할 수 있도록 참고자료를 제공하고, 반복적인 검토 준비와 보고서 작성 업무의 효율을 높인다.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DA6365F-6A4E-504F-2F1D-28F9C338FF8F}"/>
              </a:ext>
            </a:extLst>
          </p:cNvPr>
          <p:cNvSpPr txBox="1">
            <a:spLocks/>
          </p:cNvSpPr>
          <p:nvPr/>
        </p:nvSpPr>
        <p:spPr>
          <a:xfrm>
            <a:off x="228819" y="320989"/>
            <a:ext cx="11220646" cy="4431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200" kern="0">
                <a:solidFill>
                  <a:srgbClr val="00143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Pretendard SemiBold" panose="02000703000000020004" pitchFamily="50" charset="-127"/>
              </a:rPr>
              <a:t>과제 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Pretendard SemiBold" panose="02000703000000020004" pitchFamily="50" charset="-127"/>
              </a:rPr>
              <a:t>5: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Pretendard SemiBold" panose="02000703000000020004" pitchFamily="50" charset="-127"/>
              </a:rPr>
              <a:t>채용 적합성 검토 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Pretendard SemiBold" panose="02000703000000020004" pitchFamily="50" charset="-127"/>
              </a:rPr>
              <a:t>Agent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2803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1371">
      <a:dk1>
        <a:sysClr val="windowText" lastClr="000000"/>
      </a:dk1>
      <a:lt1>
        <a:sysClr val="window" lastClr="FFFFFF"/>
      </a:lt1>
      <a:dk2>
        <a:srgbClr val="31484E"/>
      </a:dk2>
      <a:lt2>
        <a:srgbClr val="E5E9F5"/>
      </a:lt2>
      <a:accent1>
        <a:srgbClr val="56D49C"/>
      </a:accent1>
      <a:accent2>
        <a:srgbClr val="575A6B"/>
      </a:accent2>
      <a:accent3>
        <a:srgbClr val="57B5D3"/>
      </a:accent3>
      <a:accent4>
        <a:srgbClr val="D85295"/>
      </a:accent4>
      <a:accent5>
        <a:srgbClr val="81D05A"/>
      </a:accent5>
      <a:accent6>
        <a:srgbClr val="5A92D0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539</Words>
  <Application>Microsoft Office PowerPoint</Application>
  <PresentationFormat>와이드스크린</PresentationFormat>
  <Paragraphs>17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</vt:lpstr>
      <vt:lpstr>HY견고딕</vt:lpstr>
      <vt:lpstr>나눔스퀘어</vt:lpstr>
      <vt:lpstr>나눔스퀘어 Bold</vt:lpstr>
      <vt:lpstr>나눔스퀘어 ExtraBold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훈 백</dc:creator>
  <cp:lastModifiedBy>유 성현</cp:lastModifiedBy>
  <cp:revision>11</cp:revision>
  <dcterms:created xsi:type="dcterms:W3CDTF">2026-06-09T00:26:02Z</dcterms:created>
  <dcterms:modified xsi:type="dcterms:W3CDTF">2026-09-22T20:28:51Z</dcterms:modified>
</cp:coreProperties>
</file>